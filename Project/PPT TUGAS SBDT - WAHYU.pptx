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75" r:id="rId5"/>
    <p:sldId id="259" r:id="rId6"/>
    <p:sldId id="276" r:id="rId7"/>
    <p:sldId id="260" r:id="rId8"/>
    <p:sldId id="279" r:id="rId9"/>
    <p:sldId id="269" r:id="rId10"/>
    <p:sldId id="281" r:id="rId11"/>
    <p:sldId id="282" r:id="rId12"/>
    <p:sldId id="283" r:id="rId13"/>
    <p:sldId id="284" r:id="rId14"/>
    <p:sldId id="267" r:id="rId15"/>
  </p:sldIdLst>
  <p:sldSz cx="18288000" cy="10287000"/>
  <p:notesSz cx="6858000" cy="9144000"/>
  <p:embeddedFontLst>
    <p:embeddedFont>
      <p:font typeface="Montserrat ExtraBold" panose="00000900000000000000" pitchFamily="2" charset="0"/>
      <p:bold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Medium" panose="000006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jzEw54v9JSMOgw4kvUg8rnobtR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5" autoAdjust="0"/>
    <p:restoredTop sz="86145" autoAdjust="0"/>
  </p:normalViewPr>
  <p:slideViewPr>
    <p:cSldViewPr snapToGrid="0">
      <p:cViewPr varScale="1">
        <p:scale>
          <a:sx n="73" d="100"/>
          <a:sy n="73" d="100"/>
        </p:scale>
        <p:origin x="483" y="80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>
              <a:effectLst/>
              <a:latin typeface="Google Sans Text"/>
            </a:endParaRP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369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6223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3028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6E97012-53F5-A992-F0D8-4C6999A28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>
            <a:extLst>
              <a:ext uri="{FF2B5EF4-FFF2-40B4-BE49-F238E27FC236}">
                <a16:creationId xmlns:a16="http://schemas.microsoft.com/office/drawing/2014/main" id="{2B0E9317-8288-A043-9670-85829F318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C063B8A1-C414-1798-C88D-2B33DE6628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0494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4482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C3E69F9-F439-2AEE-BC09-63EA88D6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>
            <a:extLst>
              <a:ext uri="{FF2B5EF4-FFF2-40B4-BE49-F238E27FC236}">
                <a16:creationId xmlns:a16="http://schemas.microsoft.com/office/drawing/2014/main" id="{54171430-6E39-EF1F-6813-7D16CF0D2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124D7B76-1F0E-DFAF-9BF2-485DB58D19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9012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351F067-3EAF-02C2-F307-EB8454974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>
            <a:extLst>
              <a:ext uri="{FF2B5EF4-FFF2-40B4-BE49-F238E27FC236}">
                <a16:creationId xmlns:a16="http://schemas.microsoft.com/office/drawing/2014/main" id="{FD5A9CC3-D423-8ACD-03B6-B3BA6B38CD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1E5518A9-658B-E529-981B-93932AEA3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3260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F0C1006-5925-AA3B-79E3-77C0BB018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>
            <a:extLst>
              <a:ext uri="{FF2B5EF4-FFF2-40B4-BE49-F238E27FC236}">
                <a16:creationId xmlns:a16="http://schemas.microsoft.com/office/drawing/2014/main" id="{D104C4B7-C3C1-CE65-AE04-09E1E71122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D6038FC4-DBDB-5524-D579-5592A127E2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979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DE3F988-F133-CAF6-60BF-5BDCA7999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C180E038-930C-E3CC-599D-7142B0E26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B0C7B90A-46A4-C2B0-2527-F1A325F01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1641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5182056" cy="10285765"/>
          </a:xfrm>
          <a:custGeom>
            <a:avLst/>
            <a:gdLst/>
            <a:ahLst/>
            <a:cxnLst/>
            <a:rect l="l" t="t" r="r" b="b"/>
            <a:pathLst>
              <a:path w="15182056" h="10285765" extrusionOk="0">
                <a:moveTo>
                  <a:pt x="0" y="0"/>
                </a:moveTo>
                <a:lnTo>
                  <a:pt x="15182056" y="0"/>
                </a:lnTo>
                <a:lnTo>
                  <a:pt x="15182056" y="10285765"/>
                </a:lnTo>
                <a:lnTo>
                  <a:pt x="0" y="10285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6016" t="-968" b="-5316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5" name="Google Shape;85;p1"/>
          <p:cNvGrpSpPr/>
          <p:nvPr/>
        </p:nvGrpSpPr>
        <p:grpSpPr>
          <a:xfrm>
            <a:off x="0" y="9335141"/>
            <a:ext cx="18288000" cy="951859"/>
            <a:chOff x="0" y="-57150"/>
            <a:chExt cx="4816593" cy="250695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816592" cy="193545"/>
            </a:xfrm>
            <a:custGeom>
              <a:avLst/>
              <a:gdLst/>
              <a:ahLst/>
              <a:cxnLst/>
              <a:rect l="l" t="t" r="r" b="b"/>
              <a:pathLst>
                <a:path w="4816592" h="19354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EC582D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57150"/>
              <a:ext cx="4816593" cy="250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20453" y="0"/>
            <a:ext cx="4640334" cy="1564764"/>
          </a:xfrm>
          <a:custGeom>
            <a:avLst/>
            <a:gdLst/>
            <a:ahLst/>
            <a:cxnLst/>
            <a:rect l="l" t="t" r="r" b="b"/>
            <a:pathLst>
              <a:path w="4640334" h="1564764" extrusionOk="0">
                <a:moveTo>
                  <a:pt x="0" y="0"/>
                </a:moveTo>
                <a:lnTo>
                  <a:pt x="4640334" y="0"/>
                </a:lnTo>
                <a:lnTo>
                  <a:pt x="4640334" y="1564764"/>
                </a:lnTo>
                <a:lnTo>
                  <a:pt x="0" y="156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Google Shape;89;p1"/>
          <p:cNvSpPr txBox="1"/>
          <p:nvPr/>
        </p:nvSpPr>
        <p:spPr>
          <a:xfrm>
            <a:off x="4986779" y="1155010"/>
            <a:ext cx="12272522" cy="2081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20" b="1" i="0" u="none" strike="noStrike" cap="none" dirty="0" err="1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Perancangan</a:t>
            </a:r>
            <a:r>
              <a:rPr lang="en-US" sz="3220" b="1" i="0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3220" b="1" i="0" u="none" strike="noStrike" cap="none" dirty="0" err="1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Implementasi</a:t>
            </a:r>
            <a:r>
              <a:rPr lang="en-US" sz="3220" b="1" i="0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 Basis Data </a:t>
            </a:r>
            <a:r>
              <a:rPr lang="en-US" sz="3220" b="1" i="0" u="none" strike="noStrike" cap="none" dirty="0" err="1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Terdistribusi</a:t>
            </a:r>
            <a:r>
              <a:rPr lang="en-US" sz="3220" b="1" i="0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 pada Platform E-Commerce “</a:t>
            </a:r>
            <a:r>
              <a:rPr lang="en-US" sz="3220" b="1" i="0" u="none" strike="noStrike" cap="none" dirty="0" err="1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TokoKita</a:t>
            </a:r>
            <a:r>
              <a:rPr lang="en-US" sz="3220" b="1" i="0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” </a:t>
            </a:r>
            <a:r>
              <a:rPr lang="en-US" sz="3220" b="1" i="0" u="none" strike="noStrike" cap="none" dirty="0" err="1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Menggunakan</a:t>
            </a:r>
            <a:r>
              <a:rPr lang="en-US" sz="3220" b="1" i="0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 MongoDB Sharded Cluster dan Replica Set</a:t>
            </a:r>
          </a:p>
        </p:txBody>
      </p:sp>
      <p:grpSp>
        <p:nvGrpSpPr>
          <p:cNvPr id="90" name="Google Shape;90;p1"/>
          <p:cNvGrpSpPr/>
          <p:nvPr/>
        </p:nvGrpSpPr>
        <p:grpSpPr>
          <a:xfrm>
            <a:off x="10802319" y="3867076"/>
            <a:ext cx="6457395" cy="886295"/>
            <a:chOff x="0" y="-57150"/>
            <a:chExt cx="776700" cy="233426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776644" cy="176276"/>
            </a:xfrm>
            <a:custGeom>
              <a:avLst/>
              <a:gdLst/>
              <a:ahLst/>
              <a:cxnLst/>
              <a:rect l="l" t="t" r="r" b="b"/>
              <a:pathLst>
                <a:path w="776644" h="176276" extrusionOk="0">
                  <a:moveTo>
                    <a:pt x="68261" y="0"/>
                  </a:moveTo>
                  <a:lnTo>
                    <a:pt x="708383" y="0"/>
                  </a:lnTo>
                  <a:cubicBezTo>
                    <a:pt x="746082" y="0"/>
                    <a:pt x="776644" y="30562"/>
                    <a:pt x="776644" y="68261"/>
                  </a:cubicBezTo>
                  <a:lnTo>
                    <a:pt x="776644" y="108015"/>
                  </a:lnTo>
                  <a:cubicBezTo>
                    <a:pt x="776644" y="126119"/>
                    <a:pt x="769452" y="143482"/>
                    <a:pt x="756651" y="156283"/>
                  </a:cubicBezTo>
                  <a:cubicBezTo>
                    <a:pt x="743849" y="169085"/>
                    <a:pt x="726487" y="176276"/>
                    <a:pt x="708383" y="176276"/>
                  </a:cubicBezTo>
                  <a:lnTo>
                    <a:pt x="68261" y="176276"/>
                  </a:lnTo>
                  <a:cubicBezTo>
                    <a:pt x="50157" y="176276"/>
                    <a:pt x="32795" y="169085"/>
                    <a:pt x="19993" y="156283"/>
                  </a:cubicBezTo>
                  <a:cubicBezTo>
                    <a:pt x="7192" y="143482"/>
                    <a:pt x="0" y="126119"/>
                    <a:pt x="0" y="108015"/>
                  </a:cubicBezTo>
                  <a:lnTo>
                    <a:pt x="0" y="68261"/>
                  </a:lnTo>
                  <a:cubicBezTo>
                    <a:pt x="0" y="50157"/>
                    <a:pt x="7192" y="32795"/>
                    <a:pt x="19993" y="19993"/>
                  </a:cubicBezTo>
                  <a:cubicBezTo>
                    <a:pt x="32795" y="7192"/>
                    <a:pt x="50157" y="0"/>
                    <a:pt x="68261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57150"/>
              <a:ext cx="776700" cy="2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9040448" y="9634070"/>
            <a:ext cx="8218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FAKULTAS ILMU KOMPUTER UNIVERSITAS ESA UNGGUL</a:t>
            </a:r>
            <a:endParaRPr sz="2300" b="1"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11022104" y="4171719"/>
            <a:ext cx="6017357" cy="43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Jefry</a:t>
            </a:r>
            <a:r>
              <a:rPr lang="en-US" sz="1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Sunupurwa</a:t>
            </a:r>
            <a:r>
              <a:rPr lang="en-US" sz="1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Asri, </a:t>
            </a:r>
            <a:r>
              <a:rPr lang="en-US" sz="1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S.Kom</a:t>
            </a:r>
            <a:r>
              <a:rPr lang="en-US" sz="1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., </a:t>
            </a:r>
            <a:r>
              <a:rPr lang="en-US" sz="1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M.Kom</a:t>
            </a:r>
            <a:r>
              <a:rPr lang="en-US" sz="1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dirty="0"/>
          </a:p>
        </p:txBody>
      </p:sp>
      <p:sp>
        <p:nvSpPr>
          <p:cNvPr id="95" name="Google Shape;95;p1"/>
          <p:cNvSpPr txBox="1"/>
          <p:nvPr/>
        </p:nvSpPr>
        <p:spPr>
          <a:xfrm>
            <a:off x="13148022" y="4818379"/>
            <a:ext cx="406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 i="0" u="none" strike="noStrike" cap="none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..................................................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3104812" y="7183618"/>
            <a:ext cx="4154488" cy="155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WAHYU</a:t>
            </a:r>
            <a:endParaRPr dirty="0"/>
          </a:p>
          <a:p>
            <a:pPr lvl="0" algn="r">
              <a:lnSpc>
                <a:spcPct val="140016"/>
              </a:lnSpc>
            </a:pPr>
            <a:r>
              <a:rPr lang="en-US" sz="2399" b="1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20220801523</a:t>
            </a:r>
            <a:endParaRPr dirty="0"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TEKNIK INFORMATIKA</a:t>
            </a:r>
            <a:endParaRPr dirty="0"/>
          </a:p>
        </p:txBody>
      </p:sp>
      <p:grpSp>
        <p:nvGrpSpPr>
          <p:cNvPr id="97" name="Google Shape;97;p1"/>
          <p:cNvGrpSpPr/>
          <p:nvPr/>
        </p:nvGrpSpPr>
        <p:grpSpPr>
          <a:xfrm>
            <a:off x="0" y="9550898"/>
            <a:ext cx="4881239" cy="734867"/>
            <a:chOff x="0" y="0"/>
            <a:chExt cx="1285594" cy="19354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285594" cy="193545"/>
            </a:xfrm>
            <a:custGeom>
              <a:avLst/>
              <a:gdLst/>
              <a:ahLst/>
              <a:cxnLst/>
              <a:rect l="l" t="t" r="r" b="b"/>
              <a:pathLst>
                <a:path w="1285594" h="193545" extrusionOk="0">
                  <a:moveTo>
                    <a:pt x="0" y="0"/>
                  </a:moveTo>
                  <a:lnTo>
                    <a:pt x="1285594" y="0"/>
                  </a:lnTo>
                  <a:lnTo>
                    <a:pt x="1285594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257AB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0"/>
              <a:ext cx="12855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fasilkom@esaunggul.ac.id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5280060" y="775999"/>
            <a:ext cx="7727880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p2"/>
          <p:cNvSpPr txBox="1"/>
          <p:nvPr/>
        </p:nvSpPr>
        <p:spPr>
          <a:xfrm>
            <a:off x="5579125" y="1273963"/>
            <a:ext cx="7121182" cy="52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LATAR BELAKANG MASALAH</a:t>
            </a:r>
            <a:endParaRPr dirty="0"/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Latar Belakang Masalah</a:t>
              </a:r>
              <a:endParaRPr/>
            </a:p>
          </p:txBody>
        </p:sp>
      </p:grpSp>
      <p:sp>
        <p:nvSpPr>
          <p:cNvPr id="2" name="Shape 2">
            <a:extLst>
              <a:ext uri="{FF2B5EF4-FFF2-40B4-BE49-F238E27FC236}">
                <a16:creationId xmlns:a16="http://schemas.microsoft.com/office/drawing/2014/main" id="{06BEF646-8667-5D10-272B-61B40A05AFDC}"/>
              </a:ext>
            </a:extLst>
          </p:cNvPr>
          <p:cNvSpPr/>
          <p:nvPr/>
        </p:nvSpPr>
        <p:spPr>
          <a:xfrm>
            <a:off x="3611880" y="29489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A8F5F7FD-DD8D-CDE8-D34C-3C975D936320}"/>
              </a:ext>
            </a:extLst>
          </p:cNvPr>
          <p:cNvSpPr/>
          <p:nvPr/>
        </p:nvSpPr>
        <p:spPr>
          <a:xfrm>
            <a:off x="3931920" y="3241548"/>
            <a:ext cx="457200" cy="457200"/>
          </a:xfrm>
          <a:prstGeom prst="ellipse">
            <a:avLst/>
          </a:prstGeom>
          <a:solidFill>
            <a:srgbClr val="282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7025035E-A62C-061A-896E-A0D0B596735E}"/>
              </a:ext>
            </a:extLst>
          </p:cNvPr>
          <p:cNvSpPr/>
          <p:nvPr/>
        </p:nvSpPr>
        <p:spPr>
          <a:xfrm>
            <a:off x="3931920" y="32415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90435BC-494B-3AE7-EF53-A390FC94A8B7}"/>
              </a:ext>
            </a:extLst>
          </p:cNvPr>
          <p:cNvSpPr/>
          <p:nvPr/>
        </p:nvSpPr>
        <p:spPr>
          <a:xfrm>
            <a:off x="4572000" y="32598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Kapasitas</a:t>
            </a:r>
            <a:endParaRPr lang="en-US" sz="16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516ACB0F-8883-8C4C-1BC3-535AE0EAB32B}"/>
              </a:ext>
            </a:extLst>
          </p:cNvPr>
          <p:cNvSpPr/>
          <p:nvPr/>
        </p:nvSpPr>
        <p:spPr>
          <a:xfrm>
            <a:off x="3931920" y="38633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Volume data pesanan tumbuh melebihi kapasitas penyimpanan dan memori satu server basis data tunggal.</a:t>
            </a:r>
            <a:endParaRPr lang="en-US" sz="14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A4FE971-A060-4F1C-BA14-4DD3FD0B7580}"/>
              </a:ext>
            </a:extLst>
          </p:cNvPr>
          <p:cNvSpPr/>
          <p:nvPr/>
        </p:nvSpPr>
        <p:spPr>
          <a:xfrm>
            <a:off x="9326880" y="29489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E468024-54EE-AF33-A468-8667B9BBB63C}"/>
              </a:ext>
            </a:extLst>
          </p:cNvPr>
          <p:cNvSpPr/>
          <p:nvPr/>
        </p:nvSpPr>
        <p:spPr>
          <a:xfrm>
            <a:off x="9646920" y="3241548"/>
            <a:ext cx="457200" cy="457200"/>
          </a:xfrm>
          <a:prstGeom prst="ellipse">
            <a:avLst/>
          </a:prstGeom>
          <a:solidFill>
            <a:srgbClr val="282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110C8EF7-EB8D-0BF5-60E6-E8F3D45705CF}"/>
              </a:ext>
            </a:extLst>
          </p:cNvPr>
          <p:cNvSpPr/>
          <p:nvPr/>
        </p:nvSpPr>
        <p:spPr>
          <a:xfrm>
            <a:off x="9646920" y="32415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E287DB82-BC34-AE85-2A87-2642AB4452C8}"/>
              </a:ext>
            </a:extLst>
          </p:cNvPr>
          <p:cNvSpPr/>
          <p:nvPr/>
        </p:nvSpPr>
        <p:spPr>
          <a:xfrm>
            <a:off x="10287000" y="32598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Ketersediaan</a:t>
            </a:r>
            <a:endParaRPr lang="en-US" sz="16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877FC102-0EDC-D96D-9FD1-0DB55699EA7E}"/>
              </a:ext>
            </a:extLst>
          </p:cNvPr>
          <p:cNvSpPr/>
          <p:nvPr/>
        </p:nvSpPr>
        <p:spPr>
          <a:xfrm>
            <a:off x="9646920" y="38633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Kegagalan satu server berarti seluruh layanan toko lumpuh — single point of failure tanpa mekanisme failover.</a:t>
            </a:r>
            <a:endParaRPr lang="en-US" sz="14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65E3205-8774-387A-68DE-33314B742A98}"/>
              </a:ext>
            </a:extLst>
          </p:cNvPr>
          <p:cNvSpPr/>
          <p:nvPr/>
        </p:nvSpPr>
        <p:spPr>
          <a:xfrm>
            <a:off x="3611880" y="528066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FBE7A5E-7E3E-3A32-77F6-087C4EA9C511}"/>
              </a:ext>
            </a:extLst>
          </p:cNvPr>
          <p:cNvSpPr/>
          <p:nvPr/>
        </p:nvSpPr>
        <p:spPr>
          <a:xfrm>
            <a:off x="3931920" y="5573268"/>
            <a:ext cx="457200" cy="457200"/>
          </a:xfrm>
          <a:prstGeom prst="ellipse">
            <a:avLst/>
          </a:prstGeom>
          <a:solidFill>
            <a:srgbClr val="282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FAE23896-5B4D-8808-08EA-0A6AC9F564C5}"/>
              </a:ext>
            </a:extLst>
          </p:cNvPr>
          <p:cNvSpPr/>
          <p:nvPr/>
        </p:nvSpPr>
        <p:spPr>
          <a:xfrm>
            <a:off x="3931920" y="55732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93561639-709A-091B-B25B-47D7A5599F4A}"/>
              </a:ext>
            </a:extLst>
          </p:cNvPr>
          <p:cNvSpPr/>
          <p:nvPr/>
        </p:nvSpPr>
        <p:spPr>
          <a:xfrm>
            <a:off x="4572000" y="559155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Kinerja</a:t>
            </a:r>
            <a:endParaRPr lang="en-US" sz="16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FF1EAEC0-4312-9AFD-EE81-E1405494E610}"/>
              </a:ext>
            </a:extLst>
          </p:cNvPr>
          <p:cNvSpPr/>
          <p:nvPr/>
        </p:nvSpPr>
        <p:spPr>
          <a:xfrm>
            <a:off x="3931920" y="61950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Lonjakan trafik jam sibuk (flash sale) meningkatkan latensi baca-tulis karena seluruh beban terpusat.</a:t>
            </a:r>
            <a:endParaRPr lang="en-US" sz="14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BEA65FB8-CD47-9A0B-D814-18B0B642DAC3}"/>
              </a:ext>
            </a:extLst>
          </p:cNvPr>
          <p:cNvSpPr/>
          <p:nvPr/>
        </p:nvSpPr>
        <p:spPr>
          <a:xfrm>
            <a:off x="9326880" y="528066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D6768665-75DE-E683-4730-89DE012C0BE9}"/>
              </a:ext>
            </a:extLst>
          </p:cNvPr>
          <p:cNvSpPr/>
          <p:nvPr/>
        </p:nvSpPr>
        <p:spPr>
          <a:xfrm>
            <a:off x="9646920" y="5573268"/>
            <a:ext cx="457200" cy="457200"/>
          </a:xfrm>
          <a:prstGeom prst="ellipse">
            <a:avLst/>
          </a:prstGeom>
          <a:solidFill>
            <a:srgbClr val="282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9CA96928-BE32-1C72-1F0B-76F789369905}"/>
              </a:ext>
            </a:extLst>
          </p:cNvPr>
          <p:cNvSpPr/>
          <p:nvPr/>
        </p:nvSpPr>
        <p:spPr>
          <a:xfrm>
            <a:off x="9646920" y="55732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5737B2B9-D935-F044-794A-ADA01E2386DA}"/>
              </a:ext>
            </a:extLst>
          </p:cNvPr>
          <p:cNvSpPr/>
          <p:nvPr/>
        </p:nvSpPr>
        <p:spPr>
          <a:xfrm>
            <a:off x="10287000" y="559155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Skalabilitas</a:t>
            </a:r>
            <a:endParaRPr lang="en-US" sz="16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B493C73C-0C40-316A-D39D-ABA579A1C014}"/>
              </a:ext>
            </a:extLst>
          </p:cNvPr>
          <p:cNvSpPr/>
          <p:nvPr/>
        </p:nvSpPr>
        <p:spPr>
          <a:xfrm>
            <a:off x="9646920" y="61950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Scale-up (memperbesar satu mesin) mahal dan berbatas; dibutuhkan scale-out menambah mesin secara horizontal.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2994212" y="775999"/>
            <a:ext cx="11510682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p2"/>
          <p:cNvSpPr txBox="1"/>
          <p:nvPr/>
        </p:nvSpPr>
        <p:spPr>
          <a:xfrm>
            <a:off x="2994212" y="1225340"/>
            <a:ext cx="11510682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RUMUSAN MASALAH DAN TUJUAN SOLUSI</a:t>
            </a:r>
            <a:endParaRPr dirty="0"/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Rumusan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Masalah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dan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Tujuan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Solusi</a:t>
              </a:r>
              <a:endParaRPr dirty="0"/>
            </a:p>
          </p:txBody>
        </p:sp>
      </p:grpSp>
      <p:sp>
        <p:nvSpPr>
          <p:cNvPr id="8" name="Shape 2">
            <a:extLst>
              <a:ext uri="{FF2B5EF4-FFF2-40B4-BE49-F238E27FC236}">
                <a16:creationId xmlns:a16="http://schemas.microsoft.com/office/drawing/2014/main" id="{F538814B-2066-1D93-A4F4-FCAD1BBE1201}"/>
              </a:ext>
            </a:extLst>
          </p:cNvPr>
          <p:cNvSpPr/>
          <p:nvPr/>
        </p:nvSpPr>
        <p:spPr>
          <a:xfrm>
            <a:off x="1677047" y="2652754"/>
            <a:ext cx="7568289" cy="5041825"/>
          </a:xfrm>
          <a:prstGeom prst="roundRect">
            <a:avLst>
              <a:gd name="adj" fmla="val 1569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989B03B-26DB-3054-4F63-2AD9EA58B8EB}"/>
              </a:ext>
            </a:extLst>
          </p:cNvPr>
          <p:cNvSpPr/>
          <p:nvPr/>
        </p:nvSpPr>
        <p:spPr>
          <a:xfrm>
            <a:off x="1997088" y="2881353"/>
            <a:ext cx="6699794" cy="49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Rumusan Masalah</a:t>
            </a:r>
            <a:endParaRPr lang="en-US" sz="16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07EC11A-6F71-44A0-821A-52BBB94B1679}"/>
              </a:ext>
            </a:extLst>
          </p:cNvPr>
          <p:cNvSpPr/>
          <p:nvPr/>
        </p:nvSpPr>
        <p:spPr>
          <a:xfrm>
            <a:off x="1997088" y="3754877"/>
            <a:ext cx="6761832" cy="467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Bagaimana merancang arsitektur basis data terdistribusi yang menampung pertumbuhan data pesanan?</a:t>
            </a:r>
            <a:endParaRPr lang="en-US" sz="1800" dirty="0"/>
          </a:p>
          <a:p>
            <a:pPr marL="152400" indent="-1524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Bagaimana memilih shard key agar data merata dan query tetap efisien?</a:t>
            </a:r>
            <a:endParaRPr lang="en-US" sz="1800" dirty="0"/>
          </a:p>
          <a:p>
            <a:pPr marL="152400" indent="-1524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Bagaimana sistem tetap tersedia saat sebuah node gagal?</a:t>
            </a:r>
            <a:endParaRPr lang="en-US" sz="1800" dirty="0"/>
          </a:p>
          <a:p>
            <a:pPr marL="152400" indent="-1524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Bagaimana konsistensi dijaga pada operasi lintas dokumen (checkout)?</a:t>
            </a:r>
            <a:endParaRPr lang="en-US" sz="18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5EB78D09-0093-BC9A-4F9A-B0403E2E18F9}"/>
              </a:ext>
            </a:extLst>
          </p:cNvPr>
          <p:cNvSpPr/>
          <p:nvPr/>
        </p:nvSpPr>
        <p:spPr>
          <a:xfrm>
            <a:off x="9863845" y="2652753"/>
            <a:ext cx="7072009" cy="5041825"/>
          </a:xfrm>
          <a:prstGeom prst="roundRect">
            <a:avLst>
              <a:gd name="adj" fmla="val 1569"/>
            </a:avLst>
          </a:prstGeom>
          <a:solidFill>
            <a:srgbClr val="282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8CA3F890-0C5D-EF73-4361-4AFF1A314B78}"/>
              </a:ext>
            </a:extLst>
          </p:cNvPr>
          <p:cNvSpPr/>
          <p:nvPr/>
        </p:nvSpPr>
        <p:spPr>
          <a:xfrm>
            <a:off x="10183885" y="2881353"/>
            <a:ext cx="6203517" cy="49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</a:t>
            </a:r>
            <a:endParaRPr lang="en-US" sz="16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CC434457-49E6-98E1-37B5-607CA02750DC}"/>
              </a:ext>
            </a:extLst>
          </p:cNvPr>
          <p:cNvSpPr/>
          <p:nvPr/>
        </p:nvSpPr>
        <p:spPr>
          <a:xfrm>
            <a:off x="10183886" y="3754876"/>
            <a:ext cx="6265552" cy="4670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EA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Membangun cluster MongoDB terdistribusi: 2 shard × replica set 3 node + config server + router mongos (10 node, Docker Compose).</a:t>
            </a:r>
            <a:endParaRPr lang="en-US" sz="1800" dirty="0"/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EA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Mendemonstrasikan distribusi data otomatis, query tertarget vs broadcast, agregasi terdistribusi, dan transaksi multi-dokumen.</a:t>
            </a:r>
            <a:endParaRPr lang="en-US" sz="1800" dirty="0"/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EA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Menguji failover otomatis sebagai bukti empiris ketersediaan tinggi.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9269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Google Shape;105;p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2994212" y="775999"/>
            <a:ext cx="11510682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Google Shape;111;p2"/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p2"/>
          <p:cNvSpPr txBox="1"/>
          <p:nvPr/>
        </p:nvSpPr>
        <p:spPr>
          <a:xfrm>
            <a:off x="2994212" y="1225340"/>
            <a:ext cx="11510682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PERBANDINGAN SISTEM SEJENIS</a:t>
            </a:r>
            <a:endParaRPr dirty="0"/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Perbandingan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Sistem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Sejenis</a:t>
              </a:r>
              <a:endParaRPr dirty="0"/>
            </a:p>
          </p:txBody>
        </p:sp>
      </p:grp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4FDB3843-400E-C22A-CD84-7B9174408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603628"/>
              </p:ext>
            </p:extLst>
          </p:nvPr>
        </p:nvGraphicFramePr>
        <p:xfrm>
          <a:off x="1028699" y="2313721"/>
          <a:ext cx="16099558" cy="6370595"/>
        </p:xfrm>
        <a:graphic>
          <a:graphicData uri="http://schemas.openxmlformats.org/drawingml/2006/table">
            <a:tbl>
              <a:tblPr/>
              <a:tblGrid>
                <a:gridCol w="332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1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7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0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Aspek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MongoDB Sharded (dipilih)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MySQL Tunggal + Replikasi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Apache Cassandra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PostgreSQL + Citus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 data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Dokumen (JSON) — cocok pesanan bersarang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Relasional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Wide-column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Relasional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Skalabilitas tulis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Horizontal via sharding otomatis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✗ Terbatas 1 primary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Sangat baik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Baik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0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Failover otomatis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Election replica set (±detik)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△ Perlu tooling tambahan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Masterless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△ Bergantung setup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0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Transaksi ACID multi-dokumen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Didukung (sejak 4.2 lintas shard)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Kuat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✗ Terbatas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Kuat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0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Query per pelanggan tertarget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Shard key hashed(customer_id)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Partition key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Distribution column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0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Kemudahan simulasi lokal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Image resmi Docker, 10 node ringan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Mudah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△ Berat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△ Sedang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>
            <a:extLst>
              <a:ext uri="{FF2B5EF4-FFF2-40B4-BE49-F238E27FC236}">
                <a16:creationId xmlns:a16="http://schemas.microsoft.com/office/drawing/2014/main" id="{05D3396B-D7FC-E3E8-495F-78AB4D8902AB}"/>
              </a:ext>
            </a:extLst>
          </p:cNvPr>
          <p:cNvSpPr/>
          <p:nvPr/>
        </p:nvSpPr>
        <p:spPr>
          <a:xfrm>
            <a:off x="1028699" y="8787340"/>
            <a:ext cx="1602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F41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Kombinasi dokumen fleksibel + sharding otomatis + replica set + transaksi ACID menjadikan MongoDB paling sesuai untuk beban kerja pesanan e-commerce studi kasus ini.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989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Google Shape;143;p4"/>
          <p:cNvSpPr/>
          <p:nvPr/>
        </p:nvSpPr>
        <p:spPr>
          <a:xfrm rot="-1753206">
            <a:off x="-1647058" y="3287685"/>
            <a:ext cx="31142120" cy="11578472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" name="Google Shape;144;p4"/>
          <p:cNvGrpSpPr/>
          <p:nvPr/>
        </p:nvGrpSpPr>
        <p:grpSpPr>
          <a:xfrm>
            <a:off x="730934" y="3463543"/>
            <a:ext cx="3359915" cy="3359915"/>
            <a:chOff x="0" y="0"/>
            <a:chExt cx="812800" cy="812800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 cmpd="sng">
              <a:solidFill>
                <a:srgbClr val="404296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4" b="1" i="0" u="none" strike="noStrike" cap="none" dirty="0">
                  <a:solidFill>
                    <a:srgbClr val="3F4196"/>
                  </a:solidFill>
                  <a:latin typeface="Arial"/>
                  <a:ea typeface="Arial"/>
                  <a:cs typeface="Arial"/>
                  <a:sym typeface="Arial"/>
                </a:rPr>
                <a:t>LANDASAN TEORI</a:t>
              </a:r>
              <a:endParaRPr dirty="0"/>
            </a:p>
          </p:txBody>
        </p:sp>
      </p:grpSp>
      <p:sp>
        <p:nvSpPr>
          <p:cNvPr id="147" name="Google Shape;147;p4"/>
          <p:cNvSpPr/>
          <p:nvPr/>
        </p:nvSpPr>
        <p:spPr>
          <a:xfrm rot="-446559">
            <a:off x="4396573" y="4194927"/>
            <a:ext cx="1413002" cy="386809"/>
          </a:xfrm>
          <a:custGeom>
            <a:avLst/>
            <a:gdLst/>
            <a:ahLst/>
            <a:cxnLst/>
            <a:rect l="l" t="t" r="r" b="b"/>
            <a:pathLst>
              <a:path w="1413002" h="386809" extrusionOk="0">
                <a:moveTo>
                  <a:pt x="0" y="0"/>
                </a:moveTo>
                <a:lnTo>
                  <a:pt x="1413002" y="0"/>
                </a:lnTo>
                <a:lnTo>
                  <a:pt x="1413002" y="386810"/>
                </a:lnTo>
                <a:lnTo>
                  <a:pt x="0" y="386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Google Shape;148;p4"/>
          <p:cNvSpPr/>
          <p:nvPr/>
        </p:nvSpPr>
        <p:spPr>
          <a:xfrm rot="1667417">
            <a:off x="4291927" y="5985000"/>
            <a:ext cx="1413002" cy="386809"/>
          </a:xfrm>
          <a:custGeom>
            <a:avLst/>
            <a:gdLst/>
            <a:ahLst/>
            <a:cxnLst/>
            <a:rect l="l" t="t" r="r" b="b"/>
            <a:pathLst>
              <a:path w="1413002" h="386809" extrusionOk="0">
                <a:moveTo>
                  <a:pt x="0" y="0"/>
                </a:moveTo>
                <a:lnTo>
                  <a:pt x="1413002" y="0"/>
                </a:lnTo>
                <a:lnTo>
                  <a:pt x="1413002" y="386809"/>
                </a:lnTo>
                <a:lnTo>
                  <a:pt x="0" y="386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Google Shape;149;p4"/>
          <p:cNvSpPr/>
          <p:nvPr/>
        </p:nvSpPr>
        <p:spPr>
          <a:xfrm>
            <a:off x="-2387953" y="-3899699"/>
            <a:ext cx="6915597" cy="7096228"/>
          </a:xfrm>
          <a:custGeom>
            <a:avLst/>
            <a:gdLst/>
            <a:ahLst/>
            <a:cxnLst/>
            <a:rect l="l" t="t" r="r" b="b"/>
            <a:pathLst>
              <a:path w="6915597" h="7096228" extrusionOk="0">
                <a:moveTo>
                  <a:pt x="0" y="0"/>
                </a:moveTo>
                <a:lnTo>
                  <a:pt x="6915597" y="0"/>
                </a:lnTo>
                <a:lnTo>
                  <a:pt x="6915597" y="7096228"/>
                </a:lnTo>
                <a:lnTo>
                  <a:pt x="0" y="709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Google Shape;153;p4"/>
          <p:cNvSpPr/>
          <p:nvPr/>
        </p:nvSpPr>
        <p:spPr>
          <a:xfrm rot="8100000">
            <a:off x="13935029" y="6372717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 extrusionOk="0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p4"/>
          <p:cNvSpPr/>
          <p:nvPr/>
        </p:nvSpPr>
        <p:spPr>
          <a:xfrm rot="-1482789">
            <a:off x="3816911" y="2720131"/>
            <a:ext cx="1413002" cy="386809"/>
          </a:xfrm>
          <a:custGeom>
            <a:avLst/>
            <a:gdLst/>
            <a:ahLst/>
            <a:cxnLst/>
            <a:rect l="l" t="t" r="r" b="b"/>
            <a:pathLst>
              <a:path w="1413002" h="386809" extrusionOk="0">
                <a:moveTo>
                  <a:pt x="0" y="0"/>
                </a:moveTo>
                <a:lnTo>
                  <a:pt x="1413002" y="0"/>
                </a:lnTo>
                <a:lnTo>
                  <a:pt x="1413002" y="386809"/>
                </a:lnTo>
                <a:lnTo>
                  <a:pt x="0" y="386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61" name="Google Shape;161;p4"/>
          <p:cNvGrpSpPr/>
          <p:nvPr/>
        </p:nvGrpSpPr>
        <p:grpSpPr>
          <a:xfrm>
            <a:off x="5579125" y="9505698"/>
            <a:ext cx="11040385" cy="781308"/>
            <a:chOff x="0" y="-66675"/>
            <a:chExt cx="2718704" cy="252173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Landasan Teori</a:t>
              </a:r>
              <a:endParaRPr/>
            </a:p>
          </p:txBody>
        </p:sp>
      </p:grpSp>
      <p:sp>
        <p:nvSpPr>
          <p:cNvPr id="5" name="Shape 2">
            <a:extLst>
              <a:ext uri="{FF2B5EF4-FFF2-40B4-BE49-F238E27FC236}">
                <a16:creationId xmlns:a16="http://schemas.microsoft.com/office/drawing/2014/main" id="{F4697AA3-1E42-EF69-6685-98F4E27E8B48}"/>
              </a:ext>
            </a:extLst>
          </p:cNvPr>
          <p:cNvSpPr/>
          <p:nvPr/>
        </p:nvSpPr>
        <p:spPr>
          <a:xfrm>
            <a:off x="7181653" y="718945"/>
            <a:ext cx="5252016" cy="2020006"/>
          </a:xfrm>
          <a:prstGeom prst="roundRect">
            <a:avLst>
              <a:gd name="adj" fmla="val 3556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18C1CFA-3E93-3C3E-FB49-ED61E002028E}"/>
              </a:ext>
            </a:extLst>
          </p:cNvPr>
          <p:cNvSpPr/>
          <p:nvPr/>
        </p:nvSpPr>
        <p:spPr>
          <a:xfrm>
            <a:off x="7579515" y="974977"/>
            <a:ext cx="5038082" cy="48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Basis Data Terdistribusi</a:t>
            </a:r>
            <a:endParaRPr lang="en-US" sz="16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9A8DB1F-5132-D407-C1C3-711A3E8A47E5}"/>
              </a:ext>
            </a:extLst>
          </p:cNvPr>
          <p:cNvSpPr/>
          <p:nvPr/>
        </p:nvSpPr>
        <p:spPr>
          <a:xfrm>
            <a:off x="7579514" y="1496185"/>
            <a:ext cx="4823253" cy="1222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Kumpulan basis data yang terhubung logis, tersebar di banyak node, namun tampak sebagai satu sistem tunggal bagi pengguna (Özsu &amp; Valduriez, 2020).</a:t>
            </a:r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ED7BCF2C-32C9-0D18-F17C-21D56ECA5E12}"/>
              </a:ext>
            </a:extLst>
          </p:cNvPr>
          <p:cNvSpPr/>
          <p:nvPr/>
        </p:nvSpPr>
        <p:spPr>
          <a:xfrm>
            <a:off x="7157524" y="2872566"/>
            <a:ext cx="5353967" cy="2059218"/>
          </a:xfrm>
          <a:prstGeom prst="roundRect">
            <a:avLst>
              <a:gd name="adj" fmla="val 3556"/>
            </a:avLst>
          </a:prstGeom>
          <a:solidFill>
            <a:srgbClr val="F6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C3DA9AD-F725-0064-BE1E-3464453159EB}"/>
              </a:ext>
            </a:extLst>
          </p:cNvPr>
          <p:cNvSpPr/>
          <p:nvPr/>
        </p:nvSpPr>
        <p:spPr>
          <a:xfrm>
            <a:off x="7570154" y="3220460"/>
            <a:ext cx="5135879" cy="498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Sharding (Fragmentasi Horizontal)</a:t>
            </a: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1EB2983F-BC77-78E0-794C-3A9F8DBC4D39}"/>
              </a:ext>
            </a:extLst>
          </p:cNvPr>
          <p:cNvSpPr/>
          <p:nvPr/>
        </p:nvSpPr>
        <p:spPr>
          <a:xfrm>
            <a:off x="7570154" y="3741669"/>
            <a:ext cx="5135878" cy="1246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Setiap dokumen ditempatkan pada tepat satu shard berdasarkan shard key; MongoDB membagi data menjadi chunk yang diseimbangkan otomatis oleh balancer.</a:t>
            </a:r>
            <a:endParaRPr lang="en-US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F7A665F1-4043-6B3E-7B55-D1CB615641D9}"/>
              </a:ext>
            </a:extLst>
          </p:cNvPr>
          <p:cNvSpPr/>
          <p:nvPr/>
        </p:nvSpPr>
        <p:spPr>
          <a:xfrm>
            <a:off x="7146305" y="5121710"/>
            <a:ext cx="5336645" cy="2052556"/>
          </a:xfrm>
          <a:prstGeom prst="roundRect">
            <a:avLst>
              <a:gd name="adj" fmla="val 3556"/>
            </a:avLst>
          </a:prstGeom>
          <a:solidFill>
            <a:srgbClr val="F6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D656EDDA-9385-AA16-5D0A-7365604DFB60}"/>
              </a:ext>
            </a:extLst>
          </p:cNvPr>
          <p:cNvSpPr/>
          <p:nvPr/>
        </p:nvSpPr>
        <p:spPr>
          <a:xfrm>
            <a:off x="7466346" y="5377742"/>
            <a:ext cx="4698076" cy="456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Replica Set</a:t>
            </a:r>
            <a:endParaRPr lang="en-US" sz="16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15A43EF2-12F2-E87E-E226-A72BFDEC1144}"/>
              </a:ext>
            </a:extLst>
          </p:cNvPr>
          <p:cNvSpPr/>
          <p:nvPr/>
        </p:nvSpPr>
        <p:spPr>
          <a:xfrm>
            <a:off x="7466346" y="5898950"/>
            <a:ext cx="4698074" cy="114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Kelompok node dengan data identik: satu PRIMARY (tulis) dan beberapa SECONDARY. Kegagalan PRIMARY memicu election berbasis konsensus Raft dalam hitungan detik.</a:t>
            </a:r>
            <a:endParaRPr lang="en-US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768CCD0B-8370-16DB-01B5-142CC42A2D4B}"/>
              </a:ext>
            </a:extLst>
          </p:cNvPr>
          <p:cNvSpPr/>
          <p:nvPr/>
        </p:nvSpPr>
        <p:spPr>
          <a:xfrm>
            <a:off x="7128982" y="7402897"/>
            <a:ext cx="5353968" cy="2059219"/>
          </a:xfrm>
          <a:prstGeom prst="roundRect">
            <a:avLst>
              <a:gd name="adj" fmla="val 3556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110716C0-E9D9-A899-B8CB-44D7556376C3}"/>
              </a:ext>
            </a:extLst>
          </p:cNvPr>
          <p:cNvSpPr/>
          <p:nvPr/>
        </p:nvSpPr>
        <p:spPr>
          <a:xfrm>
            <a:off x="7449022" y="7658930"/>
            <a:ext cx="4713326" cy="457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Teorema</a:t>
            </a: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CAP (Consistency, Availability, Partition Tolerance)</a:t>
            </a:r>
            <a:endParaRPr lang="en-US" sz="16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D5C4A827-C28B-619D-A5E1-E903835D9340}"/>
              </a:ext>
            </a:extLst>
          </p:cNvPr>
          <p:cNvSpPr/>
          <p:nvPr/>
        </p:nvSpPr>
        <p:spPr>
          <a:xfrm>
            <a:off x="7449022" y="8180138"/>
            <a:ext cx="4713324" cy="114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Saat terjadi partisi jaringan, sistem memilih konsistensi atau ketersediaan (Brewer, 2012). MongoDB berorientasi CP, dapat disetel per operasi via write/read concern.</a:t>
            </a:r>
            <a:endParaRPr lang="en-US" dirty="0"/>
          </a:p>
        </p:txBody>
      </p:sp>
      <p:sp>
        <p:nvSpPr>
          <p:cNvPr id="29" name="Google Shape;148;p4">
            <a:extLst>
              <a:ext uri="{FF2B5EF4-FFF2-40B4-BE49-F238E27FC236}">
                <a16:creationId xmlns:a16="http://schemas.microsoft.com/office/drawing/2014/main" id="{A3872230-DA61-FBD0-A88E-B01B8B83CC78}"/>
              </a:ext>
            </a:extLst>
          </p:cNvPr>
          <p:cNvSpPr/>
          <p:nvPr/>
        </p:nvSpPr>
        <p:spPr>
          <a:xfrm rot="1667417">
            <a:off x="3530824" y="7209492"/>
            <a:ext cx="1413002" cy="386809"/>
          </a:xfrm>
          <a:custGeom>
            <a:avLst/>
            <a:gdLst/>
            <a:ahLst/>
            <a:cxnLst/>
            <a:rect l="l" t="t" r="r" b="b"/>
            <a:pathLst>
              <a:path w="1413002" h="386809" extrusionOk="0">
                <a:moveTo>
                  <a:pt x="0" y="0"/>
                </a:moveTo>
                <a:lnTo>
                  <a:pt x="1413002" y="0"/>
                </a:lnTo>
                <a:lnTo>
                  <a:pt x="1413002" y="386809"/>
                </a:lnTo>
                <a:lnTo>
                  <a:pt x="0" y="386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Google Shape;143;p4"/>
          <p:cNvSpPr/>
          <p:nvPr/>
        </p:nvSpPr>
        <p:spPr>
          <a:xfrm rot="-1753206">
            <a:off x="-1792406" y="4722394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-2387953" y="-3899699"/>
            <a:ext cx="6915597" cy="7096228"/>
          </a:xfrm>
          <a:custGeom>
            <a:avLst/>
            <a:gdLst/>
            <a:ahLst/>
            <a:cxnLst/>
            <a:rect l="l" t="t" r="r" b="b"/>
            <a:pathLst>
              <a:path w="6915597" h="7096228" extrusionOk="0">
                <a:moveTo>
                  <a:pt x="0" y="0"/>
                </a:moveTo>
                <a:lnTo>
                  <a:pt x="6915597" y="0"/>
                </a:lnTo>
                <a:lnTo>
                  <a:pt x="6915597" y="7096228"/>
                </a:lnTo>
                <a:lnTo>
                  <a:pt x="0" y="709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Google Shape;153;p4"/>
          <p:cNvSpPr/>
          <p:nvPr/>
        </p:nvSpPr>
        <p:spPr>
          <a:xfrm rot="8100000">
            <a:off x="13935029" y="6372717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 extrusionOk="0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61" name="Google Shape;161;p4"/>
          <p:cNvGrpSpPr/>
          <p:nvPr/>
        </p:nvGrpSpPr>
        <p:grpSpPr>
          <a:xfrm>
            <a:off x="5579125" y="9505698"/>
            <a:ext cx="11040385" cy="781308"/>
            <a:chOff x="0" y="-66675"/>
            <a:chExt cx="2718704" cy="252173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Landasan Teori</a:t>
              </a:r>
              <a:endParaRPr/>
            </a:p>
          </p:txBody>
        </p:sp>
      </p:grpSp>
      <p:grpSp>
        <p:nvGrpSpPr>
          <p:cNvPr id="24" name="Google Shape;129;p3">
            <a:extLst>
              <a:ext uri="{FF2B5EF4-FFF2-40B4-BE49-F238E27FC236}">
                <a16:creationId xmlns:a16="http://schemas.microsoft.com/office/drawing/2014/main" id="{E9770692-063D-4855-AEDF-768AAC536799}"/>
              </a:ext>
            </a:extLst>
          </p:cNvPr>
          <p:cNvGrpSpPr/>
          <p:nvPr/>
        </p:nvGrpSpPr>
        <p:grpSpPr>
          <a:xfrm>
            <a:off x="482187" y="759632"/>
            <a:ext cx="13949082" cy="1144463"/>
            <a:chOff x="0" y="-57150"/>
            <a:chExt cx="1970080" cy="282038"/>
          </a:xfrm>
        </p:grpSpPr>
        <p:sp>
          <p:nvSpPr>
            <p:cNvPr id="25" name="Google Shape;130;p3">
              <a:extLst>
                <a:ext uri="{FF2B5EF4-FFF2-40B4-BE49-F238E27FC236}">
                  <a16:creationId xmlns:a16="http://schemas.microsoft.com/office/drawing/2014/main" id="{6AFE3628-3233-4C5C-BE3C-3903797319DB}"/>
                </a:ext>
              </a:extLst>
            </p:cNvPr>
            <p:cNvSpPr/>
            <p:nvPr/>
          </p:nvSpPr>
          <p:spPr>
            <a:xfrm>
              <a:off x="0" y="0"/>
              <a:ext cx="1970080" cy="224888"/>
            </a:xfrm>
            <a:custGeom>
              <a:avLst/>
              <a:gdLst/>
              <a:ahLst/>
              <a:cxnLst/>
              <a:rect l="l" t="t" r="r" b="b"/>
              <a:pathLst>
                <a:path w="1970080" h="224888" extrusionOk="0">
                  <a:moveTo>
                    <a:pt x="25179" y="0"/>
                  </a:moveTo>
                  <a:lnTo>
                    <a:pt x="1944900" y="0"/>
                  </a:lnTo>
                  <a:cubicBezTo>
                    <a:pt x="1958807" y="0"/>
                    <a:pt x="1970080" y="11273"/>
                    <a:pt x="1970080" y="25179"/>
                  </a:cubicBezTo>
                  <a:lnTo>
                    <a:pt x="1970080" y="199709"/>
                  </a:lnTo>
                  <a:cubicBezTo>
                    <a:pt x="1970080" y="213615"/>
                    <a:pt x="1958807" y="224888"/>
                    <a:pt x="1944900" y="224888"/>
                  </a:cubicBezTo>
                  <a:lnTo>
                    <a:pt x="25179" y="224888"/>
                  </a:lnTo>
                  <a:cubicBezTo>
                    <a:pt x="11273" y="224888"/>
                    <a:pt x="0" y="213615"/>
                    <a:pt x="0" y="199709"/>
                  </a:cubicBezTo>
                  <a:lnTo>
                    <a:pt x="0" y="25179"/>
                  </a:lnTo>
                  <a:cubicBezTo>
                    <a:pt x="0" y="11273"/>
                    <a:pt x="11273" y="0"/>
                    <a:pt x="251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3F4196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1;p3">
              <a:extLst>
                <a:ext uri="{FF2B5EF4-FFF2-40B4-BE49-F238E27FC236}">
                  <a16:creationId xmlns:a16="http://schemas.microsoft.com/office/drawing/2014/main" id="{070C1968-93F3-40F4-8B6B-242ADF95E301}"/>
                </a:ext>
              </a:extLst>
            </p:cNvPr>
            <p:cNvSpPr txBox="1"/>
            <p:nvPr/>
          </p:nvSpPr>
          <p:spPr>
            <a:xfrm>
              <a:off x="0" y="-57150"/>
              <a:ext cx="1970080" cy="282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" name="Google Shape;132;p3">
            <a:extLst>
              <a:ext uri="{FF2B5EF4-FFF2-40B4-BE49-F238E27FC236}">
                <a16:creationId xmlns:a16="http://schemas.microsoft.com/office/drawing/2014/main" id="{EB94EBB4-36BF-495A-AEC1-F076E13FE3FC}"/>
              </a:ext>
            </a:extLst>
          </p:cNvPr>
          <p:cNvSpPr txBox="1"/>
          <p:nvPr/>
        </p:nvSpPr>
        <p:spPr>
          <a:xfrm>
            <a:off x="482187" y="1161231"/>
            <a:ext cx="13949082" cy="573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11" dirty="0" err="1">
                <a:solidFill>
                  <a:srgbClr val="263F6B"/>
                </a:solidFill>
                <a:latin typeface="Montserrat ExtraBold"/>
                <a:sym typeface="Montserrat ExtraBold"/>
              </a:rPr>
              <a:t>Mengapa</a:t>
            </a:r>
            <a:r>
              <a:rPr lang="en-US" sz="3211" dirty="0">
                <a:solidFill>
                  <a:srgbClr val="263F6B"/>
                </a:solidFill>
                <a:latin typeface="Montserrat ExtraBold"/>
                <a:sym typeface="Montserrat ExtraBold"/>
              </a:rPr>
              <a:t> Sharding + Replica Set, dan </a:t>
            </a:r>
            <a:r>
              <a:rPr lang="en-US" sz="3211" dirty="0" err="1">
                <a:solidFill>
                  <a:srgbClr val="263F6B"/>
                </a:solidFill>
                <a:latin typeface="Montserrat ExtraBold"/>
                <a:sym typeface="Montserrat ExtraBold"/>
              </a:rPr>
              <a:t>Bagaimana</a:t>
            </a:r>
            <a:r>
              <a:rPr lang="en-US" sz="3211" dirty="0">
                <a:solidFill>
                  <a:srgbClr val="263F6B"/>
                </a:solidFill>
                <a:latin typeface="Montserrat ExtraBold"/>
                <a:sym typeface="Montserrat ExtraBold"/>
              </a:rPr>
              <a:t>?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64951D42-C6A4-98DC-0B72-29D55E9509C8}"/>
              </a:ext>
            </a:extLst>
          </p:cNvPr>
          <p:cNvSpPr/>
          <p:nvPr/>
        </p:nvSpPr>
        <p:spPr>
          <a:xfrm>
            <a:off x="1479952" y="2431348"/>
            <a:ext cx="6735463" cy="5631289"/>
          </a:xfrm>
          <a:prstGeom prst="roundRect">
            <a:avLst>
              <a:gd name="adj" fmla="val 1569"/>
            </a:avLst>
          </a:prstGeom>
          <a:solidFill>
            <a:srgbClr val="282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1DC6785-0D76-A08B-93A6-7F6C0CE5CEDC}"/>
              </a:ext>
            </a:extLst>
          </p:cNvPr>
          <p:cNvSpPr/>
          <p:nvPr/>
        </p:nvSpPr>
        <p:spPr>
          <a:xfrm>
            <a:off x="1799993" y="2659948"/>
            <a:ext cx="5520870" cy="552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WHY?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413790B-17AB-CF7A-8C26-22F8F99EE2EC}"/>
              </a:ext>
            </a:extLst>
          </p:cNvPr>
          <p:cNvSpPr/>
          <p:nvPr/>
        </p:nvSpPr>
        <p:spPr>
          <a:xfrm>
            <a:off x="1799993" y="3254309"/>
            <a:ext cx="5962542" cy="430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Sharding memberi skalabilitas tulis linear: kapasitas bertambah dengan menambah shard, tanpa downtime.</a:t>
            </a:r>
            <a:endParaRPr lang="en-US" dirty="0">
              <a:solidFill>
                <a:schemeClr val="bg1"/>
              </a:solidFill>
            </a:endParaRPr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Replica set memberi ketersediaan tinggi: failover otomatis tanpa intervensi operator.</a:t>
            </a:r>
            <a:endParaRPr lang="en-US" dirty="0">
              <a:solidFill>
                <a:schemeClr val="bg1"/>
              </a:solidFill>
            </a:endParaRPr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Kombinasi keduanya memisahkan dua dimensi masalah — volume data (sharding) dan toleransi kegagalan (replikasi).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300C3EB-6E14-79DF-A8ED-D690BCB2C633}"/>
              </a:ext>
            </a:extLst>
          </p:cNvPr>
          <p:cNvSpPr/>
          <p:nvPr/>
        </p:nvSpPr>
        <p:spPr>
          <a:xfrm>
            <a:off x="8817559" y="2431348"/>
            <a:ext cx="6293795" cy="5631290"/>
          </a:xfrm>
          <a:prstGeom prst="roundRect">
            <a:avLst>
              <a:gd name="adj" fmla="val 1569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5F2BD7B-34ED-D406-0DC4-FC82DE818697}"/>
              </a:ext>
            </a:extLst>
          </p:cNvPr>
          <p:cNvSpPr/>
          <p:nvPr/>
        </p:nvSpPr>
        <p:spPr>
          <a:xfrm>
            <a:off x="9137599" y="2659947"/>
            <a:ext cx="5520873" cy="552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HOW?</a:t>
            </a:r>
            <a:endParaRPr lang="en-US" sz="20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9B7C190-3ED9-B792-8BCA-FE13F48D06CC}"/>
              </a:ext>
            </a:extLst>
          </p:cNvPr>
          <p:cNvSpPr/>
          <p:nvPr/>
        </p:nvSpPr>
        <p:spPr>
          <a:xfrm>
            <a:off x="9137599" y="3254307"/>
            <a:ext cx="5520873" cy="430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Setiap shard adalah replica set 3 node; metadata chunk disimpan pada config server replica set.</a:t>
            </a:r>
            <a:endParaRPr lang="en-US" dirty="0"/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Router mongos menjadi satu-satunya titik kontak aplikasi: menargetkan query ke shard yang relevan lalu menggabungkan hasil.</a:t>
            </a:r>
            <a:endParaRPr lang="en-US" dirty="0"/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Shard key hashed(customer_id) pada koleksi orders: distribusi merata + query riwayat pelanggan tertarget ke satu shard.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18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Google Shape;169;p5"/>
          <p:cNvSpPr/>
          <p:nvPr/>
        </p:nvSpPr>
        <p:spPr>
          <a:xfrm>
            <a:off x="-1528116" y="101160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Google Shape;170;p5"/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71" name="Google Shape;171;p5"/>
          <p:cNvGrpSpPr/>
          <p:nvPr/>
        </p:nvGrpSpPr>
        <p:grpSpPr>
          <a:xfrm>
            <a:off x="5226519" y="778896"/>
            <a:ext cx="7834964" cy="1270640"/>
            <a:chOff x="0" y="-57150"/>
            <a:chExt cx="1747717" cy="287364"/>
          </a:xfrm>
        </p:grpSpPr>
        <p:sp>
          <p:nvSpPr>
            <p:cNvPr id="172" name="Google Shape;172;p5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5"/>
          <p:cNvSpPr txBox="1"/>
          <p:nvPr/>
        </p:nvSpPr>
        <p:spPr>
          <a:xfrm>
            <a:off x="5226519" y="1210405"/>
            <a:ext cx="7834964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METODOLOGI PENELITIAN</a:t>
            </a:r>
            <a:endParaRPr dirty="0"/>
          </a:p>
        </p:txBody>
      </p:sp>
      <p:grpSp>
        <p:nvGrpSpPr>
          <p:cNvPr id="175" name="Google Shape;175;p5"/>
          <p:cNvGrpSpPr/>
          <p:nvPr/>
        </p:nvGrpSpPr>
        <p:grpSpPr>
          <a:xfrm>
            <a:off x="5579125" y="9542922"/>
            <a:ext cx="11040385" cy="744087"/>
            <a:chOff x="0" y="-66675"/>
            <a:chExt cx="2718704" cy="252173"/>
          </a:xfrm>
        </p:grpSpPr>
        <p:sp>
          <p:nvSpPr>
            <p:cNvPr id="176" name="Google Shape;176;p5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Metodologi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Penelitian</a:t>
              </a:r>
              <a:endParaRPr dirty="0"/>
            </a:p>
          </p:txBody>
        </p:sp>
      </p:grpSp>
      <p:sp>
        <p:nvSpPr>
          <p:cNvPr id="3" name="Shape 2">
            <a:extLst>
              <a:ext uri="{FF2B5EF4-FFF2-40B4-BE49-F238E27FC236}">
                <a16:creationId xmlns:a16="http://schemas.microsoft.com/office/drawing/2014/main" id="{AA72E6B5-1348-A2D0-82DC-BE933E471CE4}"/>
              </a:ext>
            </a:extLst>
          </p:cNvPr>
          <p:cNvSpPr/>
          <p:nvPr/>
        </p:nvSpPr>
        <p:spPr>
          <a:xfrm>
            <a:off x="1414032" y="2523354"/>
            <a:ext cx="3287733" cy="4499003"/>
          </a:xfrm>
          <a:prstGeom prst="roundRect">
            <a:avLst>
              <a:gd name="adj" fmla="val 2807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08D1FB-D65E-38D1-737A-C5C2D5DDB357}"/>
              </a:ext>
            </a:extLst>
          </p:cNvPr>
          <p:cNvSpPr/>
          <p:nvPr/>
        </p:nvSpPr>
        <p:spPr>
          <a:xfrm>
            <a:off x="1642633" y="2797675"/>
            <a:ext cx="2710938" cy="98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Analisis Kebutuhan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CB155D5-0AB9-F853-100A-F4C621B45295}"/>
              </a:ext>
            </a:extLst>
          </p:cNvPr>
          <p:cNvSpPr/>
          <p:nvPr/>
        </p:nvSpPr>
        <p:spPr>
          <a:xfrm>
            <a:off x="1642633" y="3666355"/>
            <a:ext cx="2710938" cy="276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Identifikasi 5 kebutuhan (K-01–K-05): kapasitas, ketersediaan, akses per pelanggan, atomisitas checkout, isolasi beban analitik.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68DD16C-4EF3-E9E9-B583-24040294FE45}"/>
              </a:ext>
            </a:extLst>
          </p:cNvPr>
          <p:cNvSpPr/>
          <p:nvPr/>
        </p:nvSpPr>
        <p:spPr>
          <a:xfrm>
            <a:off x="4884175" y="4683507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41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8C4E75B-28F7-8DFC-55E0-4CEFB76339D1}"/>
              </a:ext>
            </a:extLst>
          </p:cNvPr>
          <p:cNvSpPr/>
          <p:nvPr/>
        </p:nvSpPr>
        <p:spPr>
          <a:xfrm>
            <a:off x="5415629" y="2521959"/>
            <a:ext cx="3287734" cy="4499004"/>
          </a:xfrm>
          <a:prstGeom prst="roundRect">
            <a:avLst>
              <a:gd name="adj" fmla="val 2807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09AB373-3553-1C20-FF36-19C807C63A57}"/>
              </a:ext>
            </a:extLst>
          </p:cNvPr>
          <p:cNvSpPr/>
          <p:nvPr/>
        </p:nvSpPr>
        <p:spPr>
          <a:xfrm>
            <a:off x="5644228" y="2796279"/>
            <a:ext cx="2710939" cy="98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Perancangan</a:t>
            </a:r>
            <a:endParaRPr lang="en-US" sz="16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175FA86A-AD5D-93FF-1992-C7058AB44CFA}"/>
              </a:ext>
            </a:extLst>
          </p:cNvPr>
          <p:cNvSpPr/>
          <p:nvPr/>
        </p:nvSpPr>
        <p:spPr>
          <a:xfrm>
            <a:off x="5644228" y="3664958"/>
            <a:ext cx="2710939" cy="276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Topologi cluster 10 node, skema 3 koleksi, evaluasi 3 kandidat shard key untuk koleksi orders.</a:t>
            </a:r>
            <a:endParaRPr lang="en-US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3C04C8D-AACB-DC01-BB14-575841BBB059}"/>
              </a:ext>
            </a:extLst>
          </p:cNvPr>
          <p:cNvSpPr/>
          <p:nvPr/>
        </p:nvSpPr>
        <p:spPr>
          <a:xfrm>
            <a:off x="8922490" y="4683507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41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40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0609BC8E-C78F-9B57-87A3-47C492E9138D}"/>
              </a:ext>
            </a:extLst>
          </p:cNvPr>
          <p:cNvSpPr/>
          <p:nvPr/>
        </p:nvSpPr>
        <p:spPr>
          <a:xfrm>
            <a:off x="9471129" y="2521959"/>
            <a:ext cx="3287734" cy="4499004"/>
          </a:xfrm>
          <a:prstGeom prst="roundRect">
            <a:avLst>
              <a:gd name="adj" fmla="val 2807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9D9BD5D5-A014-F27B-60AD-F8C3D3ABA28C}"/>
              </a:ext>
            </a:extLst>
          </p:cNvPr>
          <p:cNvSpPr/>
          <p:nvPr/>
        </p:nvSpPr>
        <p:spPr>
          <a:xfrm>
            <a:off x="9605444" y="2796279"/>
            <a:ext cx="2710937" cy="98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Implementasi</a:t>
            </a:r>
            <a:endParaRPr lang="en-US" sz="16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C76CCAA3-DFDC-6E7E-060D-9E7A5CC9913D}"/>
              </a:ext>
            </a:extLst>
          </p:cNvPr>
          <p:cNvSpPr/>
          <p:nvPr/>
        </p:nvSpPr>
        <p:spPr>
          <a:xfrm>
            <a:off x="9605442" y="3664959"/>
            <a:ext cx="2710939" cy="276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Provisi Docker Compose, inisialisasi replica set, konfigurasi sharding, seeding 5.000 pesanan sintetis, aplikasi demo pymongo.</a:t>
            </a:r>
            <a:endParaRPr lang="en-US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E7472DD4-6058-9E64-A4EC-2385F0FC9CEC}"/>
              </a:ext>
            </a:extLst>
          </p:cNvPr>
          <p:cNvSpPr/>
          <p:nvPr/>
        </p:nvSpPr>
        <p:spPr>
          <a:xfrm>
            <a:off x="12927796" y="4683507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41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400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2B41DB7D-D43E-C91D-78A2-FE3399006CA6}"/>
              </a:ext>
            </a:extLst>
          </p:cNvPr>
          <p:cNvSpPr/>
          <p:nvPr/>
        </p:nvSpPr>
        <p:spPr>
          <a:xfrm>
            <a:off x="13526629" y="2521959"/>
            <a:ext cx="3287734" cy="4499004"/>
          </a:xfrm>
          <a:prstGeom prst="roundRect">
            <a:avLst>
              <a:gd name="adj" fmla="val 2807"/>
            </a:avLst>
          </a:prstGeom>
          <a:solidFill>
            <a:srgbClr val="282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4C0933CA-2427-5F08-42B2-9255C2E3FC01}"/>
              </a:ext>
            </a:extLst>
          </p:cNvPr>
          <p:cNvSpPr/>
          <p:nvPr/>
        </p:nvSpPr>
        <p:spPr>
          <a:xfrm>
            <a:off x="13755228" y="2796279"/>
            <a:ext cx="2710939" cy="98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Pengujian &amp; Analisis</a:t>
            </a:r>
            <a:endParaRPr lang="en-US" sz="16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AFD80728-2426-EA42-A458-495E53CAF10B}"/>
              </a:ext>
            </a:extLst>
          </p:cNvPr>
          <p:cNvSpPr/>
          <p:nvPr/>
        </p:nvSpPr>
        <p:spPr>
          <a:xfrm>
            <a:off x="13755228" y="3664958"/>
            <a:ext cx="2710939" cy="276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dirty="0">
                <a:solidFill>
                  <a:srgbClr val="E8EA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Lima skenario uji (U-1–U-5): distribusi chunk, targeted vs broadcast, failover, pemulihan node, atomisitas transaksi.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DEB0627-7D95-7548-1AD0-BF33A023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>
            <a:extLst>
              <a:ext uri="{FF2B5EF4-FFF2-40B4-BE49-F238E27FC236}">
                <a16:creationId xmlns:a16="http://schemas.microsoft.com/office/drawing/2014/main" id="{3D77904B-81E2-15A1-75E1-AE98EDA38A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24863E63-701D-0623-9295-A749F4B3FC07}"/>
              </a:ext>
            </a:extLst>
          </p:cNvPr>
          <p:cNvSpPr/>
          <p:nvPr/>
        </p:nvSpPr>
        <p:spPr>
          <a:xfrm>
            <a:off x="-1528116" y="101160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FF2A25E6-746D-8B7D-12FB-52723F96EBC9}"/>
              </a:ext>
            </a:extLst>
          </p:cNvPr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71" name="Google Shape;171;p5">
            <a:extLst>
              <a:ext uri="{FF2B5EF4-FFF2-40B4-BE49-F238E27FC236}">
                <a16:creationId xmlns:a16="http://schemas.microsoft.com/office/drawing/2014/main" id="{6922C182-BF4B-6505-0CE6-00B86354CF6D}"/>
              </a:ext>
            </a:extLst>
          </p:cNvPr>
          <p:cNvGrpSpPr/>
          <p:nvPr/>
        </p:nvGrpSpPr>
        <p:grpSpPr>
          <a:xfrm>
            <a:off x="1414032" y="778896"/>
            <a:ext cx="11647451" cy="1270640"/>
            <a:chOff x="0" y="-57150"/>
            <a:chExt cx="1747717" cy="287364"/>
          </a:xfrm>
        </p:grpSpPr>
        <p:sp>
          <p:nvSpPr>
            <p:cNvPr id="172" name="Google Shape;172;p5">
              <a:extLst>
                <a:ext uri="{FF2B5EF4-FFF2-40B4-BE49-F238E27FC236}">
                  <a16:creationId xmlns:a16="http://schemas.microsoft.com/office/drawing/2014/main" id="{99A1038A-E3BB-8EB5-F873-4528450F35F1}"/>
                </a:ext>
              </a:extLst>
            </p:cNvPr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>
              <a:extLst>
                <a:ext uri="{FF2B5EF4-FFF2-40B4-BE49-F238E27FC236}">
                  <a16:creationId xmlns:a16="http://schemas.microsoft.com/office/drawing/2014/main" id="{7B1FAB6E-F80F-7929-C668-D70F110CDEE1}"/>
                </a:ext>
              </a:extLst>
            </p:cNvPr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45F54E23-1437-0FD0-1D26-EDB0A284CAC1}"/>
              </a:ext>
            </a:extLst>
          </p:cNvPr>
          <p:cNvSpPr txBox="1"/>
          <p:nvPr/>
        </p:nvSpPr>
        <p:spPr>
          <a:xfrm>
            <a:off x="1414032" y="1210405"/>
            <a:ext cx="11647451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Objek Studi: TokoKita &amp; Kebutuhan Sistem</a:t>
            </a:r>
          </a:p>
        </p:txBody>
      </p:sp>
      <p:grpSp>
        <p:nvGrpSpPr>
          <p:cNvPr id="175" name="Google Shape;175;p5">
            <a:extLst>
              <a:ext uri="{FF2B5EF4-FFF2-40B4-BE49-F238E27FC236}">
                <a16:creationId xmlns:a16="http://schemas.microsoft.com/office/drawing/2014/main" id="{B5052A29-4871-5BA9-1B07-F71EF96202B4}"/>
              </a:ext>
            </a:extLst>
          </p:cNvPr>
          <p:cNvGrpSpPr/>
          <p:nvPr/>
        </p:nvGrpSpPr>
        <p:grpSpPr>
          <a:xfrm>
            <a:off x="5579125" y="9542922"/>
            <a:ext cx="11040385" cy="744087"/>
            <a:chOff x="0" y="-66675"/>
            <a:chExt cx="2718704" cy="252173"/>
          </a:xfrm>
        </p:grpSpPr>
        <p:sp>
          <p:nvSpPr>
            <p:cNvPr id="176" name="Google Shape;176;p5">
              <a:extLst>
                <a:ext uri="{FF2B5EF4-FFF2-40B4-BE49-F238E27FC236}">
                  <a16:creationId xmlns:a16="http://schemas.microsoft.com/office/drawing/2014/main" id="{5D9D3170-025F-3AC7-2022-5BCDF4B6D2B3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>
              <a:extLst>
                <a:ext uri="{FF2B5EF4-FFF2-40B4-BE49-F238E27FC236}">
                  <a16:creationId xmlns:a16="http://schemas.microsoft.com/office/drawing/2014/main" id="{0BA2FE8F-60B9-CBE9-E186-77542EBDFCFB}"/>
                </a:ext>
              </a:extLst>
            </p:cNvPr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Metodologi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Penelitian</a:t>
              </a:r>
              <a:endParaRPr dirty="0"/>
            </a:p>
          </p:txBody>
        </p:sp>
      </p:grpSp>
      <p:sp>
        <p:nvSpPr>
          <p:cNvPr id="4" name="Text 2">
            <a:extLst>
              <a:ext uri="{FF2B5EF4-FFF2-40B4-BE49-F238E27FC236}">
                <a16:creationId xmlns:a16="http://schemas.microsoft.com/office/drawing/2014/main" id="{13B1A98A-7CCF-8988-9AA6-F61C1BAE061B}"/>
              </a:ext>
            </a:extLst>
          </p:cNvPr>
          <p:cNvSpPr/>
          <p:nvPr/>
        </p:nvSpPr>
        <p:spPr>
          <a:xfrm>
            <a:off x="1414031" y="2246274"/>
            <a:ext cx="156329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TokoKita adalah platform e-commerce dengan beban dominan: penulisan pesanan intensif saat jam sibuk, pembacaan riwayat pesanan per pelanggan, penelusuran katalog, dan laporan agregat penjualan.</a:t>
            </a:r>
            <a:endParaRPr lang="en-US" sz="1600" b="1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05ADA41E-0150-812C-3498-CBC36C031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239970"/>
              </p:ext>
            </p:extLst>
          </p:nvPr>
        </p:nvGraphicFramePr>
        <p:xfrm>
          <a:off x="1414031" y="3207968"/>
          <a:ext cx="15719451" cy="4832760"/>
        </p:xfrm>
        <a:graphic>
          <a:graphicData uri="http://schemas.openxmlformats.org/drawingml/2006/table">
            <a:tbl>
              <a:tblPr/>
              <a:tblGrid>
                <a:gridCol w="1299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5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4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5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Kode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Kebutuhan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Solusi Arsitektur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5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K-01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 pesanan tumbuh melebihi kapasitas satu server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Sharding koleksi orders ke 2 shard (dapat ditambah tanpa henti layanan)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K-02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Layanan tetap hidup saat satu server mati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Setiap shard = replica set 3 node dengan failover otomatis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K-03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Riwayat pesanan per pelanggan cepat diakses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Shard key customer_id → query per pelanggan tertarget ke 1 shard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5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K-04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Checkout mengubah stok + membuat pesanan secara atomik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Transaksi multi-dokumen ACID lintas koleksi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5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K-05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Laporan penjualan tidak mengganggu operasi utama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Read preference secondaryPreferred untuk beban analitik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52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ID" dirty="0"/>
          </a:p>
        </p:txBody>
      </p:sp>
      <p:sp>
        <p:nvSpPr>
          <p:cNvPr id="169" name="Google Shape;169;p5"/>
          <p:cNvSpPr/>
          <p:nvPr/>
        </p:nvSpPr>
        <p:spPr>
          <a:xfrm>
            <a:off x="-1528116" y="101160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Google Shape;170;p5"/>
          <p:cNvSpPr/>
          <p:nvPr/>
        </p:nvSpPr>
        <p:spPr>
          <a:xfrm>
            <a:off x="17711777" y="6967375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71" name="Google Shape;171;p5"/>
          <p:cNvGrpSpPr/>
          <p:nvPr/>
        </p:nvGrpSpPr>
        <p:grpSpPr>
          <a:xfrm>
            <a:off x="5501673" y="803434"/>
            <a:ext cx="7284653" cy="1270640"/>
            <a:chOff x="0" y="-57150"/>
            <a:chExt cx="1747717" cy="287364"/>
          </a:xfrm>
        </p:grpSpPr>
        <p:sp>
          <p:nvSpPr>
            <p:cNvPr id="172" name="Google Shape;172;p5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5"/>
          <p:cNvSpPr txBox="1"/>
          <p:nvPr/>
        </p:nvSpPr>
        <p:spPr>
          <a:xfrm>
            <a:off x="5501672" y="1252775"/>
            <a:ext cx="7284653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ARSITEKTUR SISTEM</a:t>
            </a:r>
            <a:endParaRPr lang="en-US" dirty="0"/>
          </a:p>
        </p:txBody>
      </p:sp>
      <p:grpSp>
        <p:nvGrpSpPr>
          <p:cNvPr id="175" name="Google Shape;175;p5"/>
          <p:cNvGrpSpPr/>
          <p:nvPr/>
        </p:nvGrpSpPr>
        <p:grpSpPr>
          <a:xfrm>
            <a:off x="5579125" y="9542922"/>
            <a:ext cx="11040385" cy="744087"/>
            <a:chOff x="0" y="-66675"/>
            <a:chExt cx="2718704" cy="252173"/>
          </a:xfrm>
        </p:grpSpPr>
        <p:sp>
          <p:nvSpPr>
            <p:cNvPr id="176" name="Google Shape;176;p5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Arsitektur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Sistem</a:t>
              </a:r>
              <a:endParaRPr dirty="0"/>
            </a:p>
          </p:txBody>
        </p:sp>
      </p:grpSp>
      <p:sp>
        <p:nvSpPr>
          <p:cNvPr id="3" name="Shape 2">
            <a:extLst>
              <a:ext uri="{FF2B5EF4-FFF2-40B4-BE49-F238E27FC236}">
                <a16:creationId xmlns:a16="http://schemas.microsoft.com/office/drawing/2014/main" id="{72A0C8D8-16E3-F6BD-8FFE-7D8F025BA6F2}"/>
              </a:ext>
            </a:extLst>
          </p:cNvPr>
          <p:cNvSpPr/>
          <p:nvPr/>
        </p:nvSpPr>
        <p:spPr>
          <a:xfrm>
            <a:off x="7557733" y="2507432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31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499CB1D-D8EB-3241-3FBE-E20C50F324AC}"/>
              </a:ext>
            </a:extLst>
          </p:cNvPr>
          <p:cNvSpPr/>
          <p:nvPr/>
        </p:nvSpPr>
        <p:spPr>
          <a:xfrm>
            <a:off x="7557733" y="25805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Aplikasi (pymongo)</a:t>
            </a:r>
            <a:endParaRPr lang="en-US" sz="18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64FF2112-3E10-546D-5743-745D24BF2B59}"/>
              </a:ext>
            </a:extLst>
          </p:cNvPr>
          <p:cNvSpPr/>
          <p:nvPr/>
        </p:nvSpPr>
        <p:spPr>
          <a:xfrm>
            <a:off x="8929333" y="3193232"/>
            <a:ext cx="0" cy="457200"/>
          </a:xfrm>
          <a:prstGeom prst="line">
            <a:avLst/>
          </a:prstGeom>
          <a:noFill/>
          <a:ln w="22225">
            <a:solidFill>
              <a:srgbClr val="3F41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804F0A2B-0F37-450D-89B2-53CC5D0BC72C}"/>
              </a:ext>
            </a:extLst>
          </p:cNvPr>
          <p:cNvSpPr/>
          <p:nvPr/>
        </p:nvSpPr>
        <p:spPr>
          <a:xfrm>
            <a:off x="7329133" y="3650432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3F41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02D2AE8-26B1-E2F4-A8B8-E0B0B2F32F29}"/>
              </a:ext>
            </a:extLst>
          </p:cNvPr>
          <p:cNvSpPr/>
          <p:nvPr/>
        </p:nvSpPr>
        <p:spPr>
          <a:xfrm>
            <a:off x="7329133" y="3723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mongos (router)</a:t>
            </a:r>
            <a:endParaRPr lang="en-US" sz="18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855913D-0197-92EA-F9B0-F04449AAEE30}"/>
              </a:ext>
            </a:extLst>
          </p:cNvPr>
          <p:cNvSpPr/>
          <p:nvPr/>
        </p:nvSpPr>
        <p:spPr>
          <a:xfrm>
            <a:off x="7420573" y="4061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DDDF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 27017 — satu-satunya titik kontak</a:t>
            </a:r>
            <a:endParaRPr lang="en-US" sz="12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A0F4A964-9926-89A0-AE74-BB0115A78CD0}"/>
              </a:ext>
            </a:extLst>
          </p:cNvPr>
          <p:cNvSpPr/>
          <p:nvPr/>
        </p:nvSpPr>
        <p:spPr>
          <a:xfrm>
            <a:off x="8929333" y="4519112"/>
            <a:ext cx="0" cy="320040"/>
          </a:xfrm>
          <a:prstGeom prst="line">
            <a:avLst/>
          </a:prstGeom>
          <a:noFill/>
          <a:ln w="22225">
            <a:solidFill>
              <a:srgbClr val="3F41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CCC17552-3ABE-79F4-C436-33E46027FEFC}"/>
              </a:ext>
            </a:extLst>
          </p:cNvPr>
          <p:cNvSpPr/>
          <p:nvPr/>
        </p:nvSpPr>
        <p:spPr>
          <a:xfrm>
            <a:off x="5207725" y="4839152"/>
            <a:ext cx="7452360" cy="0"/>
          </a:xfrm>
          <a:prstGeom prst="line">
            <a:avLst/>
          </a:prstGeom>
          <a:noFill/>
          <a:ln w="22225">
            <a:solidFill>
              <a:srgbClr val="3F41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169D8136-B6AF-58BA-9C80-E718BB0E2F73}"/>
              </a:ext>
            </a:extLst>
          </p:cNvPr>
          <p:cNvSpPr/>
          <p:nvPr/>
        </p:nvSpPr>
        <p:spPr>
          <a:xfrm>
            <a:off x="5207725" y="4839152"/>
            <a:ext cx="0" cy="320040"/>
          </a:xfrm>
          <a:prstGeom prst="line">
            <a:avLst/>
          </a:prstGeom>
          <a:noFill/>
          <a:ln w="22225">
            <a:solidFill>
              <a:srgbClr val="3F41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0D1B612B-A971-FBD6-234F-F4AE0F3CCB06}"/>
              </a:ext>
            </a:extLst>
          </p:cNvPr>
          <p:cNvSpPr/>
          <p:nvPr/>
        </p:nvSpPr>
        <p:spPr>
          <a:xfrm>
            <a:off x="8929333" y="4839152"/>
            <a:ext cx="0" cy="320040"/>
          </a:xfrm>
          <a:prstGeom prst="line">
            <a:avLst/>
          </a:prstGeom>
          <a:noFill/>
          <a:ln w="22225">
            <a:solidFill>
              <a:srgbClr val="3F41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8DAA7C6D-88AA-07AE-9D6D-823830430EC8}"/>
              </a:ext>
            </a:extLst>
          </p:cNvPr>
          <p:cNvSpPr/>
          <p:nvPr/>
        </p:nvSpPr>
        <p:spPr>
          <a:xfrm>
            <a:off x="12660085" y="4839152"/>
            <a:ext cx="0" cy="320040"/>
          </a:xfrm>
          <a:prstGeom prst="line">
            <a:avLst/>
          </a:prstGeom>
          <a:noFill/>
          <a:ln w="22225">
            <a:solidFill>
              <a:srgbClr val="3F41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912F1CF8-CE37-4F40-E77F-C6FB8537247B}"/>
              </a:ext>
            </a:extLst>
          </p:cNvPr>
          <p:cNvSpPr/>
          <p:nvPr/>
        </p:nvSpPr>
        <p:spPr>
          <a:xfrm>
            <a:off x="3607525" y="5159192"/>
            <a:ext cx="3200400" cy="1737360"/>
          </a:xfrm>
          <a:prstGeom prst="roundRect">
            <a:avLst>
              <a:gd name="adj" fmla="val 3158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888FBA61-D05B-4E1A-DFFD-55C55C5317C7}"/>
              </a:ext>
            </a:extLst>
          </p:cNvPr>
          <p:cNvSpPr/>
          <p:nvPr/>
        </p:nvSpPr>
        <p:spPr>
          <a:xfrm>
            <a:off x="3607525" y="5232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 Server RS</a:t>
            </a:r>
            <a:endParaRPr lang="en-US" sz="18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B95970BA-D3DD-5DFB-0CDE-519761229E46}"/>
              </a:ext>
            </a:extLst>
          </p:cNvPr>
          <p:cNvSpPr/>
          <p:nvPr/>
        </p:nvSpPr>
        <p:spPr>
          <a:xfrm>
            <a:off x="3698965" y="557067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cfgsvr1 · cfgsvr2 · cfgsvr3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Metadata cluster &amp; peta chunk</a:t>
            </a:r>
            <a:endParaRPr lang="en-US" sz="1200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9A8BBDEC-8C4C-858A-7601-C183687D72B8}"/>
              </a:ext>
            </a:extLst>
          </p:cNvPr>
          <p:cNvSpPr/>
          <p:nvPr/>
        </p:nvSpPr>
        <p:spPr>
          <a:xfrm>
            <a:off x="7329133" y="5159192"/>
            <a:ext cx="3200400" cy="1737360"/>
          </a:xfrm>
          <a:prstGeom prst="roundRect">
            <a:avLst>
              <a:gd name="adj" fmla="val 3158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1841493E-F59C-6BD3-1E0A-10C6A83EFB1D}"/>
              </a:ext>
            </a:extLst>
          </p:cNvPr>
          <p:cNvSpPr/>
          <p:nvPr/>
        </p:nvSpPr>
        <p:spPr>
          <a:xfrm>
            <a:off x="7329133" y="5232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Shard 1 — shard1rs</a:t>
            </a:r>
            <a:endParaRPr lang="en-US" sz="1800" dirty="0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1F7F786D-A0A4-0409-9D30-381E7DC89EDA}"/>
              </a:ext>
            </a:extLst>
          </p:cNvPr>
          <p:cNvSpPr/>
          <p:nvPr/>
        </p:nvSpPr>
        <p:spPr>
          <a:xfrm>
            <a:off x="7420573" y="557067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shard1a (P) · shard1b (S) · shard1c (S)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Chunk subset A</a:t>
            </a:r>
            <a:endParaRPr lang="en-US" sz="1200" dirty="0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9886BA05-CD12-AD53-2E4D-C3AB21FFE1B3}"/>
              </a:ext>
            </a:extLst>
          </p:cNvPr>
          <p:cNvSpPr/>
          <p:nvPr/>
        </p:nvSpPr>
        <p:spPr>
          <a:xfrm>
            <a:off x="11059885" y="5159192"/>
            <a:ext cx="3200400" cy="1737360"/>
          </a:xfrm>
          <a:prstGeom prst="roundRect">
            <a:avLst>
              <a:gd name="adj" fmla="val 3158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5742CC9E-EA6E-FC0C-9BEA-16E6C1ED0E7C}"/>
              </a:ext>
            </a:extLst>
          </p:cNvPr>
          <p:cNvSpPr/>
          <p:nvPr/>
        </p:nvSpPr>
        <p:spPr>
          <a:xfrm>
            <a:off x="11059885" y="5232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Shard 2 — shard2rs</a:t>
            </a:r>
            <a:endParaRPr lang="en-US" sz="1800" dirty="0"/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F383402A-F164-F790-8F09-C236A6A33D31}"/>
              </a:ext>
            </a:extLst>
          </p:cNvPr>
          <p:cNvSpPr/>
          <p:nvPr/>
        </p:nvSpPr>
        <p:spPr>
          <a:xfrm>
            <a:off x="11151325" y="557067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shard2a (P) · shard2b (S) · shard2c (S)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31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Chunk subset B</a:t>
            </a:r>
            <a:endParaRPr lang="en-US" sz="1200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4599C409-A892-9904-EFDF-B2C4316A40DD}"/>
              </a:ext>
            </a:extLst>
          </p:cNvPr>
          <p:cNvSpPr/>
          <p:nvPr/>
        </p:nvSpPr>
        <p:spPr>
          <a:xfrm>
            <a:off x="3607525" y="744421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 = PRIMARY (menerima tulis)   ·   S = SECONDARY (replika baca / kandidat failover)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752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A9EFED5-764C-633D-D213-44F33CED2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>
            <a:extLst>
              <a:ext uri="{FF2B5EF4-FFF2-40B4-BE49-F238E27FC236}">
                <a16:creationId xmlns:a16="http://schemas.microsoft.com/office/drawing/2014/main" id="{6ECEE986-051A-5CB7-AFC2-7BC9A8263E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182F69FA-D990-15C7-C2C6-E28E440F8541}"/>
              </a:ext>
            </a:extLst>
          </p:cNvPr>
          <p:cNvSpPr/>
          <p:nvPr/>
        </p:nvSpPr>
        <p:spPr>
          <a:xfrm>
            <a:off x="-1528116" y="101160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E681FAF6-82C9-6716-4B4B-242E6D365BF8}"/>
              </a:ext>
            </a:extLst>
          </p:cNvPr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71" name="Google Shape;171;p5">
            <a:extLst>
              <a:ext uri="{FF2B5EF4-FFF2-40B4-BE49-F238E27FC236}">
                <a16:creationId xmlns:a16="http://schemas.microsoft.com/office/drawing/2014/main" id="{ABDF95AF-CB30-796C-DE38-D163DEA35149}"/>
              </a:ext>
            </a:extLst>
          </p:cNvPr>
          <p:cNvGrpSpPr/>
          <p:nvPr/>
        </p:nvGrpSpPr>
        <p:grpSpPr>
          <a:xfrm>
            <a:off x="1414032" y="778896"/>
            <a:ext cx="11647451" cy="1270640"/>
            <a:chOff x="0" y="-57150"/>
            <a:chExt cx="1747717" cy="287364"/>
          </a:xfrm>
        </p:grpSpPr>
        <p:sp>
          <p:nvSpPr>
            <p:cNvPr id="172" name="Google Shape;172;p5">
              <a:extLst>
                <a:ext uri="{FF2B5EF4-FFF2-40B4-BE49-F238E27FC236}">
                  <a16:creationId xmlns:a16="http://schemas.microsoft.com/office/drawing/2014/main" id="{B1210FB3-AF18-2B50-1CC3-069B65E4028A}"/>
                </a:ext>
              </a:extLst>
            </p:cNvPr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>
              <a:extLst>
                <a:ext uri="{FF2B5EF4-FFF2-40B4-BE49-F238E27FC236}">
                  <a16:creationId xmlns:a16="http://schemas.microsoft.com/office/drawing/2014/main" id="{6FCB90F3-006B-8B41-594D-2CFBC6EAA637}"/>
                </a:ext>
              </a:extLst>
            </p:cNvPr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A02CE6F0-AD31-1BE0-6EF0-763EFBCB651F}"/>
              </a:ext>
            </a:extLst>
          </p:cNvPr>
          <p:cNvSpPr txBox="1"/>
          <p:nvPr/>
        </p:nvSpPr>
        <p:spPr>
          <a:xfrm>
            <a:off x="1414032" y="1210405"/>
            <a:ext cx="11647451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Matriks Skenario Pengujian</a:t>
            </a:r>
          </a:p>
        </p:txBody>
      </p:sp>
      <p:grpSp>
        <p:nvGrpSpPr>
          <p:cNvPr id="175" name="Google Shape;175;p5">
            <a:extLst>
              <a:ext uri="{FF2B5EF4-FFF2-40B4-BE49-F238E27FC236}">
                <a16:creationId xmlns:a16="http://schemas.microsoft.com/office/drawing/2014/main" id="{6C83546A-A327-D00C-7842-DBBC72F1DB4F}"/>
              </a:ext>
            </a:extLst>
          </p:cNvPr>
          <p:cNvGrpSpPr/>
          <p:nvPr/>
        </p:nvGrpSpPr>
        <p:grpSpPr>
          <a:xfrm>
            <a:off x="5579125" y="9542922"/>
            <a:ext cx="11040385" cy="744087"/>
            <a:chOff x="0" y="-66675"/>
            <a:chExt cx="2718704" cy="252173"/>
          </a:xfrm>
        </p:grpSpPr>
        <p:sp>
          <p:nvSpPr>
            <p:cNvPr id="176" name="Google Shape;176;p5">
              <a:extLst>
                <a:ext uri="{FF2B5EF4-FFF2-40B4-BE49-F238E27FC236}">
                  <a16:creationId xmlns:a16="http://schemas.microsoft.com/office/drawing/2014/main" id="{5ED61BF1-A108-E6F3-5EB8-374305E7DE3A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>
              <a:extLst>
                <a:ext uri="{FF2B5EF4-FFF2-40B4-BE49-F238E27FC236}">
                  <a16:creationId xmlns:a16="http://schemas.microsoft.com/office/drawing/2014/main" id="{3A98143F-84C0-AEC0-83C6-E989BE19BF42}"/>
                </a:ext>
              </a:extLst>
            </p:cNvPr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Metodologi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Penelitian</a:t>
              </a:r>
              <a:endParaRPr dirty="0"/>
            </a:p>
          </p:txBody>
        </p:sp>
      </p:grp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1A7D492C-A164-B912-215C-686D4CF1B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663570"/>
              </p:ext>
            </p:extLst>
          </p:nvPr>
        </p:nvGraphicFramePr>
        <p:xfrm>
          <a:off x="1414032" y="2693125"/>
          <a:ext cx="15629214" cy="5580018"/>
        </p:xfrm>
        <a:graphic>
          <a:graphicData uri="http://schemas.openxmlformats.org/drawingml/2006/table">
            <a:tbl>
              <a:tblPr/>
              <a:tblGrid>
                <a:gridCol w="1033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5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0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08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0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Skenario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Cara Uji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Hasil yang Diharapkan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9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U-1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Distribusi data antar shard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$shardedDataDistribution setelah seeding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orders &amp; products terbagi ≈50:50 antara kedua shard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0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U-2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Query tertarget vs broadcast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explain() dengan &amp; tanpa shard key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By customer_id → 1 shard; by status → semua shard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0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U-3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Failover otomatis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docker stop node PRIMARY shard 1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PRIMARY baru terpilih ±10 detik; aplikasi tetap jalan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0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U-4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Pemulihan node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docker start node yang dimatikan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Kembali sebagai SECONDARY, sinkron via oplog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0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U-5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Atomisitas checkout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Transaksi dengan qty melebihi stok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43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Rollback otomatis; stok &amp; pesanan tidak berubah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9167" marR="129167" marT="64584" marB="64584" anchor="ctr">
                    <a:lnL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6875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F1468E9C-371E-90AE-2BE8-E0D2110B7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>
            <a:extLst>
              <a:ext uri="{FF2B5EF4-FFF2-40B4-BE49-F238E27FC236}">
                <a16:creationId xmlns:a16="http://schemas.microsoft.com/office/drawing/2014/main" id="{F5F6A23C-0EBB-3BED-85E9-8BD28C245B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FDE2FB80-ED1F-6968-C6C7-523F9A35CD18}"/>
              </a:ext>
            </a:extLst>
          </p:cNvPr>
          <p:cNvSpPr/>
          <p:nvPr/>
        </p:nvSpPr>
        <p:spPr>
          <a:xfrm>
            <a:off x="-1528116" y="101160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E9398FED-A3C1-1094-D461-9274323BFCE6}"/>
              </a:ext>
            </a:extLst>
          </p:cNvPr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71" name="Google Shape;171;p5">
            <a:extLst>
              <a:ext uri="{FF2B5EF4-FFF2-40B4-BE49-F238E27FC236}">
                <a16:creationId xmlns:a16="http://schemas.microsoft.com/office/drawing/2014/main" id="{69BCE854-6104-A090-DB07-90240BE94098}"/>
              </a:ext>
            </a:extLst>
          </p:cNvPr>
          <p:cNvGrpSpPr/>
          <p:nvPr/>
        </p:nvGrpSpPr>
        <p:grpSpPr>
          <a:xfrm>
            <a:off x="1414032" y="778896"/>
            <a:ext cx="11647451" cy="1270640"/>
            <a:chOff x="0" y="-57150"/>
            <a:chExt cx="1747717" cy="287364"/>
          </a:xfrm>
        </p:grpSpPr>
        <p:sp>
          <p:nvSpPr>
            <p:cNvPr id="172" name="Google Shape;172;p5">
              <a:extLst>
                <a:ext uri="{FF2B5EF4-FFF2-40B4-BE49-F238E27FC236}">
                  <a16:creationId xmlns:a16="http://schemas.microsoft.com/office/drawing/2014/main" id="{F62811F7-FE89-6C6F-1A3B-41D769E44DFE}"/>
                </a:ext>
              </a:extLst>
            </p:cNvPr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>
              <a:extLst>
                <a:ext uri="{FF2B5EF4-FFF2-40B4-BE49-F238E27FC236}">
                  <a16:creationId xmlns:a16="http://schemas.microsoft.com/office/drawing/2014/main" id="{52B2448B-2CCB-7F6A-A890-FA3664977BF5}"/>
                </a:ext>
              </a:extLst>
            </p:cNvPr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FBCFA6A8-141F-97F6-3BEA-134AF267691C}"/>
              </a:ext>
            </a:extLst>
          </p:cNvPr>
          <p:cNvSpPr txBox="1"/>
          <p:nvPr/>
        </p:nvSpPr>
        <p:spPr>
          <a:xfrm>
            <a:off x="1414032" y="1210405"/>
            <a:ext cx="11647451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Hasil Uji: Distribusi Data &amp; Efisiensi Query</a:t>
            </a:r>
          </a:p>
        </p:txBody>
      </p:sp>
      <p:grpSp>
        <p:nvGrpSpPr>
          <p:cNvPr id="175" name="Google Shape;175;p5">
            <a:extLst>
              <a:ext uri="{FF2B5EF4-FFF2-40B4-BE49-F238E27FC236}">
                <a16:creationId xmlns:a16="http://schemas.microsoft.com/office/drawing/2014/main" id="{42BEB3FB-C4BA-7FD2-FEAE-77E60D4BEC03}"/>
              </a:ext>
            </a:extLst>
          </p:cNvPr>
          <p:cNvGrpSpPr/>
          <p:nvPr/>
        </p:nvGrpSpPr>
        <p:grpSpPr>
          <a:xfrm>
            <a:off x="5579125" y="9542922"/>
            <a:ext cx="11040385" cy="744087"/>
            <a:chOff x="0" y="-66675"/>
            <a:chExt cx="2718704" cy="252173"/>
          </a:xfrm>
        </p:grpSpPr>
        <p:sp>
          <p:nvSpPr>
            <p:cNvPr id="176" name="Google Shape;176;p5">
              <a:extLst>
                <a:ext uri="{FF2B5EF4-FFF2-40B4-BE49-F238E27FC236}">
                  <a16:creationId xmlns:a16="http://schemas.microsoft.com/office/drawing/2014/main" id="{0ADCD436-4C95-3DE6-1AF0-125E5FA5ED1F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>
              <a:extLst>
                <a:ext uri="{FF2B5EF4-FFF2-40B4-BE49-F238E27FC236}">
                  <a16:creationId xmlns:a16="http://schemas.microsoft.com/office/drawing/2014/main" id="{17B7F8FD-2AB9-747D-EBEF-3B03D43B23CB}"/>
                </a:ext>
              </a:extLst>
            </p:cNvPr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Metodologi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Penelitian</a:t>
              </a:r>
              <a:endParaRPr dirty="0"/>
            </a:p>
          </p:txBody>
        </p:sp>
      </p:grpSp>
      <p:sp>
        <p:nvSpPr>
          <p:cNvPr id="3" name="Text 18">
            <a:extLst>
              <a:ext uri="{FF2B5EF4-FFF2-40B4-BE49-F238E27FC236}">
                <a16:creationId xmlns:a16="http://schemas.microsoft.com/office/drawing/2014/main" id="{F016558E-FD53-BA07-540A-6FF7D3E4DDE0}"/>
              </a:ext>
            </a:extLst>
          </p:cNvPr>
          <p:cNvSpPr/>
          <p:nvPr/>
        </p:nvSpPr>
        <p:spPr>
          <a:xfrm>
            <a:off x="1734072" y="2584002"/>
            <a:ext cx="7636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On-Progress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21261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17170B2-E108-BFA8-6AEA-72A3511EE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>
            <a:extLst>
              <a:ext uri="{FF2B5EF4-FFF2-40B4-BE49-F238E27FC236}">
                <a16:creationId xmlns:a16="http://schemas.microsoft.com/office/drawing/2014/main" id="{931ADE25-A3C2-9D34-D8EE-40D95304CE5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A524A81E-FB5C-DF1D-F4C5-762B07A48438}"/>
              </a:ext>
            </a:extLst>
          </p:cNvPr>
          <p:cNvSpPr/>
          <p:nvPr/>
        </p:nvSpPr>
        <p:spPr>
          <a:xfrm>
            <a:off x="-1528116" y="101160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43AB30A1-E87C-5950-AAB4-AD9354A6781A}"/>
              </a:ext>
            </a:extLst>
          </p:cNvPr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71" name="Google Shape;171;p5">
            <a:extLst>
              <a:ext uri="{FF2B5EF4-FFF2-40B4-BE49-F238E27FC236}">
                <a16:creationId xmlns:a16="http://schemas.microsoft.com/office/drawing/2014/main" id="{DB8BA56E-D9D2-8D24-881F-C3FC8B156646}"/>
              </a:ext>
            </a:extLst>
          </p:cNvPr>
          <p:cNvGrpSpPr/>
          <p:nvPr/>
        </p:nvGrpSpPr>
        <p:grpSpPr>
          <a:xfrm>
            <a:off x="4060371" y="778896"/>
            <a:ext cx="9001112" cy="1270640"/>
            <a:chOff x="0" y="-57150"/>
            <a:chExt cx="1747717" cy="287364"/>
          </a:xfrm>
        </p:grpSpPr>
        <p:sp>
          <p:nvSpPr>
            <p:cNvPr id="172" name="Google Shape;172;p5">
              <a:extLst>
                <a:ext uri="{FF2B5EF4-FFF2-40B4-BE49-F238E27FC236}">
                  <a16:creationId xmlns:a16="http://schemas.microsoft.com/office/drawing/2014/main" id="{54ECCE0D-2CC9-5B30-479F-AE044DEDF2D1}"/>
                </a:ext>
              </a:extLst>
            </p:cNvPr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>
              <a:extLst>
                <a:ext uri="{FF2B5EF4-FFF2-40B4-BE49-F238E27FC236}">
                  <a16:creationId xmlns:a16="http://schemas.microsoft.com/office/drawing/2014/main" id="{10AAEB69-06C2-E5F1-9E97-8687455C8807}"/>
                </a:ext>
              </a:extLst>
            </p:cNvPr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4691275B-1706-1F1E-FD9F-E63AED3DED08}"/>
              </a:ext>
            </a:extLst>
          </p:cNvPr>
          <p:cNvSpPr txBox="1"/>
          <p:nvPr/>
        </p:nvSpPr>
        <p:spPr>
          <a:xfrm>
            <a:off x="4060371" y="1210405"/>
            <a:ext cx="9001112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Hasil Uji Failover &amp; </a:t>
            </a:r>
            <a:r>
              <a:rPr lang="en-US" sz="3499" b="0" i="0" u="none" strike="noStrike" cap="none" dirty="0" err="1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Analisis</a:t>
            </a:r>
            <a:r>
              <a:rPr lang="en-US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CAP</a:t>
            </a:r>
          </a:p>
        </p:txBody>
      </p:sp>
      <p:grpSp>
        <p:nvGrpSpPr>
          <p:cNvPr id="175" name="Google Shape;175;p5">
            <a:extLst>
              <a:ext uri="{FF2B5EF4-FFF2-40B4-BE49-F238E27FC236}">
                <a16:creationId xmlns:a16="http://schemas.microsoft.com/office/drawing/2014/main" id="{9BD5DC68-3BDA-C455-25CB-85F42CFAAB58}"/>
              </a:ext>
            </a:extLst>
          </p:cNvPr>
          <p:cNvGrpSpPr/>
          <p:nvPr/>
        </p:nvGrpSpPr>
        <p:grpSpPr>
          <a:xfrm>
            <a:off x="5579125" y="9542922"/>
            <a:ext cx="11040385" cy="744087"/>
            <a:chOff x="0" y="-66675"/>
            <a:chExt cx="2718704" cy="252173"/>
          </a:xfrm>
        </p:grpSpPr>
        <p:sp>
          <p:nvSpPr>
            <p:cNvPr id="176" name="Google Shape;176;p5">
              <a:extLst>
                <a:ext uri="{FF2B5EF4-FFF2-40B4-BE49-F238E27FC236}">
                  <a16:creationId xmlns:a16="http://schemas.microsoft.com/office/drawing/2014/main" id="{0F9B5BEB-42BE-483A-54AD-A45B8096520D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>
              <a:extLst>
                <a:ext uri="{FF2B5EF4-FFF2-40B4-BE49-F238E27FC236}">
                  <a16:creationId xmlns:a16="http://schemas.microsoft.com/office/drawing/2014/main" id="{18843E23-AAB9-7A89-714C-0D7B3402F5E3}"/>
                </a:ext>
              </a:extLst>
            </p:cNvPr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Metodologi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Penelitian</a:t>
              </a:r>
              <a:endParaRPr dirty="0"/>
            </a:p>
          </p:txBody>
        </p:sp>
      </p:grpSp>
      <p:sp>
        <p:nvSpPr>
          <p:cNvPr id="4" name="Shape 17">
            <a:extLst>
              <a:ext uri="{FF2B5EF4-FFF2-40B4-BE49-F238E27FC236}">
                <a16:creationId xmlns:a16="http://schemas.microsoft.com/office/drawing/2014/main" id="{471D4959-6DE3-6A87-7273-30DB1768A99B}"/>
              </a:ext>
            </a:extLst>
          </p:cNvPr>
          <p:cNvSpPr/>
          <p:nvPr/>
        </p:nvSpPr>
        <p:spPr>
          <a:xfrm>
            <a:off x="1414032" y="7288852"/>
            <a:ext cx="15400331" cy="2194560"/>
          </a:xfrm>
          <a:prstGeom prst="roundRect">
            <a:avLst>
              <a:gd name="adj" fmla="val 3333"/>
            </a:avLst>
          </a:prstGeom>
          <a:solidFill>
            <a:srgbClr val="F6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18AFE258-43A0-C8A0-F6F3-BB5F307228FC}"/>
              </a:ext>
            </a:extLst>
          </p:cNvPr>
          <p:cNvSpPr/>
          <p:nvPr/>
        </p:nvSpPr>
        <p:spPr>
          <a:xfrm>
            <a:off x="1734072" y="2584002"/>
            <a:ext cx="7636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On-Progress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93134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D5FEB8B-D4AE-1C2A-BBAC-4792A54DE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>
            <a:extLst>
              <a:ext uri="{FF2B5EF4-FFF2-40B4-BE49-F238E27FC236}">
                <a16:creationId xmlns:a16="http://schemas.microsoft.com/office/drawing/2014/main" id="{465F3F1A-D309-1E32-C6AF-9D7D5F9E514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Google Shape;143;p4">
            <a:extLst>
              <a:ext uri="{FF2B5EF4-FFF2-40B4-BE49-F238E27FC236}">
                <a16:creationId xmlns:a16="http://schemas.microsoft.com/office/drawing/2014/main" id="{A410F791-2DED-5067-83FB-CA637C978862}"/>
              </a:ext>
            </a:extLst>
          </p:cNvPr>
          <p:cNvSpPr/>
          <p:nvPr/>
        </p:nvSpPr>
        <p:spPr>
          <a:xfrm rot="-1753206">
            <a:off x="-1792406" y="4722394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">
            <a:extLst>
              <a:ext uri="{FF2B5EF4-FFF2-40B4-BE49-F238E27FC236}">
                <a16:creationId xmlns:a16="http://schemas.microsoft.com/office/drawing/2014/main" id="{9EF50A21-B93A-6EB9-6CEF-2B670BAD9C33}"/>
              </a:ext>
            </a:extLst>
          </p:cNvPr>
          <p:cNvSpPr/>
          <p:nvPr/>
        </p:nvSpPr>
        <p:spPr>
          <a:xfrm>
            <a:off x="-2387953" y="-3899699"/>
            <a:ext cx="6915597" cy="7096228"/>
          </a:xfrm>
          <a:custGeom>
            <a:avLst/>
            <a:gdLst/>
            <a:ahLst/>
            <a:cxnLst/>
            <a:rect l="l" t="t" r="r" b="b"/>
            <a:pathLst>
              <a:path w="6915597" h="7096228" extrusionOk="0">
                <a:moveTo>
                  <a:pt x="0" y="0"/>
                </a:moveTo>
                <a:lnTo>
                  <a:pt x="6915597" y="0"/>
                </a:lnTo>
                <a:lnTo>
                  <a:pt x="6915597" y="7096228"/>
                </a:lnTo>
                <a:lnTo>
                  <a:pt x="0" y="709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Google Shape;153;p4">
            <a:extLst>
              <a:ext uri="{FF2B5EF4-FFF2-40B4-BE49-F238E27FC236}">
                <a16:creationId xmlns:a16="http://schemas.microsoft.com/office/drawing/2014/main" id="{9B832641-742F-8775-E8C9-6F1F27F3D759}"/>
              </a:ext>
            </a:extLst>
          </p:cNvPr>
          <p:cNvSpPr/>
          <p:nvPr/>
        </p:nvSpPr>
        <p:spPr>
          <a:xfrm rot="8100000">
            <a:off x="13935029" y="6372717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 extrusionOk="0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61" name="Google Shape;161;p4">
            <a:extLst>
              <a:ext uri="{FF2B5EF4-FFF2-40B4-BE49-F238E27FC236}">
                <a16:creationId xmlns:a16="http://schemas.microsoft.com/office/drawing/2014/main" id="{ECD42A67-731E-70D3-006E-5E2EE80D450B}"/>
              </a:ext>
            </a:extLst>
          </p:cNvPr>
          <p:cNvGrpSpPr/>
          <p:nvPr/>
        </p:nvGrpSpPr>
        <p:grpSpPr>
          <a:xfrm>
            <a:off x="5579125" y="9505698"/>
            <a:ext cx="11040385" cy="781308"/>
            <a:chOff x="0" y="-66675"/>
            <a:chExt cx="2718704" cy="252173"/>
          </a:xfrm>
        </p:grpSpPr>
        <p:sp>
          <p:nvSpPr>
            <p:cNvPr id="162" name="Google Shape;162;p4">
              <a:extLst>
                <a:ext uri="{FF2B5EF4-FFF2-40B4-BE49-F238E27FC236}">
                  <a16:creationId xmlns:a16="http://schemas.microsoft.com/office/drawing/2014/main" id="{88E9BBF4-DA44-8C72-BBAB-5B330449B2CC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4">
              <a:extLst>
                <a:ext uri="{FF2B5EF4-FFF2-40B4-BE49-F238E27FC236}">
                  <a16:creationId xmlns:a16="http://schemas.microsoft.com/office/drawing/2014/main" id="{BB6378D1-0F92-5325-3DEF-C8D8C6501E9D}"/>
                </a:ext>
              </a:extLst>
            </p:cNvPr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Landasan Teori</a:t>
              </a:r>
              <a:endParaRPr/>
            </a:p>
          </p:txBody>
        </p:sp>
      </p:grpSp>
      <p:grpSp>
        <p:nvGrpSpPr>
          <p:cNvPr id="24" name="Google Shape;129;p3">
            <a:extLst>
              <a:ext uri="{FF2B5EF4-FFF2-40B4-BE49-F238E27FC236}">
                <a16:creationId xmlns:a16="http://schemas.microsoft.com/office/drawing/2014/main" id="{C36A9914-E393-7340-CDF1-445C94DF51C5}"/>
              </a:ext>
            </a:extLst>
          </p:cNvPr>
          <p:cNvGrpSpPr/>
          <p:nvPr/>
        </p:nvGrpSpPr>
        <p:grpSpPr>
          <a:xfrm>
            <a:off x="3243943" y="759632"/>
            <a:ext cx="11187326" cy="1144463"/>
            <a:chOff x="0" y="-57150"/>
            <a:chExt cx="1970080" cy="282038"/>
          </a:xfrm>
        </p:grpSpPr>
        <p:sp>
          <p:nvSpPr>
            <p:cNvPr id="25" name="Google Shape;130;p3">
              <a:extLst>
                <a:ext uri="{FF2B5EF4-FFF2-40B4-BE49-F238E27FC236}">
                  <a16:creationId xmlns:a16="http://schemas.microsoft.com/office/drawing/2014/main" id="{CD626A5C-F047-580F-2177-0158CD6FD030}"/>
                </a:ext>
              </a:extLst>
            </p:cNvPr>
            <p:cNvSpPr/>
            <p:nvPr/>
          </p:nvSpPr>
          <p:spPr>
            <a:xfrm>
              <a:off x="0" y="0"/>
              <a:ext cx="1970080" cy="224888"/>
            </a:xfrm>
            <a:custGeom>
              <a:avLst/>
              <a:gdLst/>
              <a:ahLst/>
              <a:cxnLst/>
              <a:rect l="l" t="t" r="r" b="b"/>
              <a:pathLst>
                <a:path w="1970080" h="224888" extrusionOk="0">
                  <a:moveTo>
                    <a:pt x="25179" y="0"/>
                  </a:moveTo>
                  <a:lnTo>
                    <a:pt x="1944900" y="0"/>
                  </a:lnTo>
                  <a:cubicBezTo>
                    <a:pt x="1958807" y="0"/>
                    <a:pt x="1970080" y="11273"/>
                    <a:pt x="1970080" y="25179"/>
                  </a:cubicBezTo>
                  <a:lnTo>
                    <a:pt x="1970080" y="199709"/>
                  </a:lnTo>
                  <a:cubicBezTo>
                    <a:pt x="1970080" y="213615"/>
                    <a:pt x="1958807" y="224888"/>
                    <a:pt x="1944900" y="224888"/>
                  </a:cubicBezTo>
                  <a:lnTo>
                    <a:pt x="25179" y="224888"/>
                  </a:lnTo>
                  <a:cubicBezTo>
                    <a:pt x="11273" y="224888"/>
                    <a:pt x="0" y="213615"/>
                    <a:pt x="0" y="199709"/>
                  </a:cubicBezTo>
                  <a:lnTo>
                    <a:pt x="0" y="25179"/>
                  </a:lnTo>
                  <a:cubicBezTo>
                    <a:pt x="0" y="11273"/>
                    <a:pt x="11273" y="0"/>
                    <a:pt x="251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3F4196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1;p3">
              <a:extLst>
                <a:ext uri="{FF2B5EF4-FFF2-40B4-BE49-F238E27FC236}">
                  <a16:creationId xmlns:a16="http://schemas.microsoft.com/office/drawing/2014/main" id="{865F8DD4-BF5E-1C17-C8DD-A429ACD405AC}"/>
                </a:ext>
              </a:extLst>
            </p:cNvPr>
            <p:cNvSpPr txBox="1"/>
            <p:nvPr/>
          </p:nvSpPr>
          <p:spPr>
            <a:xfrm>
              <a:off x="0" y="-57150"/>
              <a:ext cx="1970080" cy="282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" name="Google Shape;132;p3">
            <a:extLst>
              <a:ext uri="{FF2B5EF4-FFF2-40B4-BE49-F238E27FC236}">
                <a16:creationId xmlns:a16="http://schemas.microsoft.com/office/drawing/2014/main" id="{5A8ABE9E-2506-8757-F499-46C54BBCA8E4}"/>
              </a:ext>
            </a:extLst>
          </p:cNvPr>
          <p:cNvSpPr txBox="1"/>
          <p:nvPr/>
        </p:nvSpPr>
        <p:spPr>
          <a:xfrm>
            <a:off x="482187" y="1161231"/>
            <a:ext cx="13949082" cy="573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11" dirty="0">
                <a:solidFill>
                  <a:srgbClr val="263F6B"/>
                </a:solidFill>
                <a:latin typeface="Montserrat ExtraBold"/>
                <a:sym typeface="Montserrat ExtraBold"/>
              </a:rPr>
              <a:t>Kesimpulan dan Saran</a:t>
            </a:r>
          </a:p>
        </p:txBody>
      </p:sp>
      <p:sp>
        <p:nvSpPr>
          <p:cNvPr id="4" name="Text 18">
            <a:extLst>
              <a:ext uri="{FF2B5EF4-FFF2-40B4-BE49-F238E27FC236}">
                <a16:creationId xmlns:a16="http://schemas.microsoft.com/office/drawing/2014/main" id="{3FE83D6B-988F-49AF-E6EB-7E004D7A3514}"/>
              </a:ext>
            </a:extLst>
          </p:cNvPr>
          <p:cNvSpPr/>
          <p:nvPr/>
        </p:nvSpPr>
        <p:spPr>
          <a:xfrm>
            <a:off x="1734072" y="2584002"/>
            <a:ext cx="7636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9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On-Progress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46170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0" y="-625"/>
            <a:ext cx="14574774" cy="10285765"/>
          </a:xfrm>
          <a:custGeom>
            <a:avLst/>
            <a:gdLst/>
            <a:ahLst/>
            <a:cxnLst/>
            <a:rect l="l" t="t" r="r" b="b"/>
            <a:pathLst>
              <a:path w="15182056" h="10285765" extrusionOk="0">
                <a:moveTo>
                  <a:pt x="0" y="0"/>
                </a:moveTo>
                <a:lnTo>
                  <a:pt x="15182056" y="0"/>
                </a:lnTo>
                <a:lnTo>
                  <a:pt x="15182056" y="10285765"/>
                </a:lnTo>
                <a:lnTo>
                  <a:pt x="0" y="10285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6016" t="-2488" b="-379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95" name="Google Shape;295;p12"/>
          <p:cNvGrpSpPr/>
          <p:nvPr/>
        </p:nvGrpSpPr>
        <p:grpSpPr>
          <a:xfrm>
            <a:off x="0" y="9335141"/>
            <a:ext cx="18288000" cy="951859"/>
            <a:chOff x="0" y="-57150"/>
            <a:chExt cx="4816593" cy="250695"/>
          </a:xfrm>
        </p:grpSpPr>
        <p:sp>
          <p:nvSpPr>
            <p:cNvPr id="296" name="Google Shape;296;p12"/>
            <p:cNvSpPr/>
            <p:nvPr/>
          </p:nvSpPr>
          <p:spPr>
            <a:xfrm>
              <a:off x="0" y="0"/>
              <a:ext cx="4816592" cy="193545"/>
            </a:xfrm>
            <a:custGeom>
              <a:avLst/>
              <a:gdLst/>
              <a:ahLst/>
              <a:cxnLst/>
              <a:rect l="l" t="t" r="r" b="b"/>
              <a:pathLst>
                <a:path w="4816592" h="19354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EC582D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Google Shape;297;p12"/>
            <p:cNvSpPr txBox="1"/>
            <p:nvPr/>
          </p:nvSpPr>
          <p:spPr>
            <a:xfrm>
              <a:off x="0" y="-57150"/>
              <a:ext cx="4816593" cy="250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12"/>
          <p:cNvSpPr/>
          <p:nvPr/>
        </p:nvSpPr>
        <p:spPr>
          <a:xfrm>
            <a:off x="13539900" y="136755"/>
            <a:ext cx="4494826" cy="1515697"/>
          </a:xfrm>
          <a:custGeom>
            <a:avLst/>
            <a:gdLst/>
            <a:ahLst/>
            <a:cxnLst/>
            <a:rect l="l" t="t" r="r" b="b"/>
            <a:pathLst>
              <a:path w="4494826" h="1515697" extrusionOk="0">
                <a:moveTo>
                  <a:pt x="0" y="0"/>
                </a:moveTo>
                <a:lnTo>
                  <a:pt x="4494826" y="0"/>
                </a:lnTo>
                <a:lnTo>
                  <a:pt x="4494826" y="1515697"/>
                </a:lnTo>
                <a:lnTo>
                  <a:pt x="0" y="1515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99" name="Google Shape;299;p12"/>
          <p:cNvGrpSpPr/>
          <p:nvPr/>
        </p:nvGrpSpPr>
        <p:grpSpPr>
          <a:xfrm>
            <a:off x="0" y="9550898"/>
            <a:ext cx="4881239" cy="734867"/>
            <a:chOff x="0" y="0"/>
            <a:chExt cx="1285594" cy="193545"/>
          </a:xfrm>
        </p:grpSpPr>
        <p:sp>
          <p:nvSpPr>
            <p:cNvPr id="300" name="Google Shape;300;p12"/>
            <p:cNvSpPr/>
            <p:nvPr/>
          </p:nvSpPr>
          <p:spPr>
            <a:xfrm>
              <a:off x="0" y="0"/>
              <a:ext cx="1285594" cy="193545"/>
            </a:xfrm>
            <a:custGeom>
              <a:avLst/>
              <a:gdLst/>
              <a:ahLst/>
              <a:cxnLst/>
              <a:rect l="l" t="t" r="r" b="b"/>
              <a:pathLst>
                <a:path w="1285594" h="193545" extrusionOk="0">
                  <a:moveTo>
                    <a:pt x="0" y="0"/>
                  </a:moveTo>
                  <a:lnTo>
                    <a:pt x="1285594" y="0"/>
                  </a:lnTo>
                  <a:lnTo>
                    <a:pt x="1285594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257AB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Google Shape;301;p12"/>
            <p:cNvSpPr txBox="1"/>
            <p:nvPr/>
          </p:nvSpPr>
          <p:spPr>
            <a:xfrm>
              <a:off x="0" y="0"/>
              <a:ext cx="12855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fasilkom@esaunggul.ac.id</a:t>
              </a:r>
              <a:endParaRPr/>
            </a:p>
          </p:txBody>
        </p:sp>
      </p:grpSp>
      <p:sp>
        <p:nvSpPr>
          <p:cNvPr id="302" name="Google Shape;302;p12"/>
          <p:cNvSpPr txBox="1"/>
          <p:nvPr/>
        </p:nvSpPr>
        <p:spPr>
          <a:xfrm>
            <a:off x="7739595" y="4369348"/>
            <a:ext cx="9777600" cy="15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58" i="0" u="none" strike="noStrike" cap="none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TERIMA KASIH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2485</TotalTime>
  <Words>1093</Words>
  <Application>Microsoft Office PowerPoint</Application>
  <PresentationFormat>Custom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Google Sans Text</vt:lpstr>
      <vt:lpstr>Poppins</vt:lpstr>
      <vt:lpstr>Poppins Medium</vt:lpstr>
      <vt:lpstr>Montserrat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Gusti Putu Wulandari</dc:creator>
  <cp:lastModifiedBy>Wahyu Wahyu</cp:lastModifiedBy>
  <cp:revision>60</cp:revision>
  <dcterms:created xsi:type="dcterms:W3CDTF">2006-08-16T00:00:00Z</dcterms:created>
  <dcterms:modified xsi:type="dcterms:W3CDTF">2026-07-18T01:03:07Z</dcterms:modified>
</cp:coreProperties>
</file>